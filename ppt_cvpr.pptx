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Arimo Bold" panose="020B0604020202020204" charset="0"/>
      <p:regular r:id="rId16"/>
    </p:embeddedFont>
    <p:embeddedFont>
      <p:font typeface="Tahoma" panose="020B0604030504040204" pitchFamily="34" charset="0"/>
      <p:regular r:id="rId17"/>
      <p:bold r:id="rId18"/>
    </p:embeddedFont>
    <p:embeddedFont>
      <p:font typeface="Tahoma Bold" panose="020B0804030504040204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53" y="7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750" y="-54350"/>
            <a:ext cx="18419398" cy="10341348"/>
          </a:xfrm>
          <a:custGeom>
            <a:avLst/>
            <a:gdLst/>
            <a:ahLst/>
            <a:cxnLst/>
            <a:rect l="l" t="t" r="r" b="b"/>
            <a:pathLst>
              <a:path w="18419398" h="10341348">
                <a:moveTo>
                  <a:pt x="0" y="0"/>
                </a:moveTo>
                <a:lnTo>
                  <a:pt x="18419398" y="0"/>
                </a:lnTo>
                <a:lnTo>
                  <a:pt x="18419398" y="10341348"/>
                </a:lnTo>
                <a:lnTo>
                  <a:pt x="0" y="10341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56" r="-185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26836" y="175998"/>
            <a:ext cx="17454226" cy="10111002"/>
            <a:chOff x="0" y="0"/>
            <a:chExt cx="22987200" cy="133161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987127" cy="13316090"/>
            </a:xfrm>
            <a:custGeom>
              <a:avLst/>
              <a:gdLst/>
              <a:ahLst/>
              <a:cxnLst/>
              <a:rect l="l" t="t" r="r" b="b"/>
              <a:pathLst>
                <a:path w="22987127" h="13316090">
                  <a:moveTo>
                    <a:pt x="0" y="2219348"/>
                  </a:moveTo>
                  <a:cubicBezTo>
                    <a:pt x="0" y="993716"/>
                    <a:pt x="926719" y="0"/>
                    <a:pt x="2069719" y="0"/>
                  </a:cubicBezTo>
                  <a:lnTo>
                    <a:pt x="20917408" y="0"/>
                  </a:lnTo>
                  <a:cubicBezTo>
                    <a:pt x="22060536" y="0"/>
                    <a:pt x="22987127" y="993716"/>
                    <a:pt x="22987127" y="2219348"/>
                  </a:cubicBezTo>
                  <a:lnTo>
                    <a:pt x="22987127" y="11096740"/>
                  </a:lnTo>
                  <a:cubicBezTo>
                    <a:pt x="22987127" y="12322509"/>
                    <a:pt x="22060408" y="13316090"/>
                    <a:pt x="20917408" y="13316090"/>
                  </a:cubicBezTo>
                  <a:lnTo>
                    <a:pt x="2069719" y="13316090"/>
                  </a:lnTo>
                  <a:cubicBezTo>
                    <a:pt x="926719" y="13316223"/>
                    <a:pt x="0" y="12322509"/>
                    <a:pt x="0" y="110967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551000" y="571827"/>
            <a:ext cx="1990800" cy="1990800"/>
            <a:chOff x="0" y="0"/>
            <a:chExt cx="2654400" cy="265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54300" cy="2654300"/>
            </a:xfrm>
            <a:custGeom>
              <a:avLst/>
              <a:gdLst/>
              <a:ahLst/>
              <a:cxnLst/>
              <a:rect l="l" t="t" r="r" b="b"/>
              <a:pathLst>
                <a:path w="2654300" h="2654300">
                  <a:moveTo>
                    <a:pt x="0" y="1327150"/>
                  </a:moveTo>
                  <a:cubicBezTo>
                    <a:pt x="0" y="594233"/>
                    <a:pt x="594233" y="0"/>
                    <a:pt x="1327150" y="0"/>
                  </a:cubicBezTo>
                  <a:cubicBezTo>
                    <a:pt x="2060067" y="0"/>
                    <a:pt x="2654300" y="594233"/>
                    <a:pt x="2654300" y="1327150"/>
                  </a:cubicBezTo>
                  <a:cubicBezTo>
                    <a:pt x="2654300" y="2060067"/>
                    <a:pt x="2060067" y="2654300"/>
                    <a:pt x="1327150" y="2654300"/>
                  </a:cubicBezTo>
                  <a:cubicBezTo>
                    <a:pt x="594233" y="2654300"/>
                    <a:pt x="0" y="2060194"/>
                    <a:pt x="0" y="1327150"/>
                  </a:cubicBezTo>
                  <a:close/>
                </a:path>
              </a:pathLst>
            </a:custGeom>
            <a:solidFill>
              <a:srgbClr val="E8552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 rot="5400000">
            <a:off x="-2760475" y="8219923"/>
            <a:ext cx="5984900" cy="5975900"/>
          </a:xfrm>
          <a:custGeom>
            <a:avLst/>
            <a:gdLst/>
            <a:ahLst/>
            <a:cxnLst/>
            <a:rect l="l" t="t" r="r" b="b"/>
            <a:pathLst>
              <a:path w="5984900" h="5975900">
                <a:moveTo>
                  <a:pt x="0" y="0"/>
                </a:moveTo>
                <a:lnTo>
                  <a:pt x="5984900" y="0"/>
                </a:lnTo>
                <a:lnTo>
                  <a:pt x="5984900" y="5975900"/>
                </a:lnTo>
                <a:lnTo>
                  <a:pt x="0" y="5975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9" b="-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432770" y="4950465"/>
            <a:ext cx="4280684" cy="304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4"/>
              </a:lnSpc>
            </a:pPr>
            <a:r>
              <a:rPr lang="en-US" sz="334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S.M.RASEL</a:t>
            </a:r>
          </a:p>
          <a:p>
            <a:pPr algn="ctr">
              <a:lnSpc>
                <a:spcPts val="4014"/>
              </a:lnSpc>
            </a:pPr>
            <a:r>
              <a:rPr lang="en-US" sz="334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Torikul Islam Munna       </a:t>
            </a:r>
          </a:p>
          <a:p>
            <a:pPr algn="ctr">
              <a:lnSpc>
                <a:spcPts val="4014"/>
              </a:lnSpc>
            </a:pPr>
            <a:r>
              <a:rPr lang="en-US" sz="334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Susanta Roy Emon</a:t>
            </a:r>
          </a:p>
          <a:p>
            <a:pPr algn="ctr">
              <a:lnSpc>
                <a:spcPts val="4014"/>
              </a:lnSpc>
            </a:pPr>
            <a:endParaRPr lang="en-US" sz="334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4014"/>
              </a:lnSpc>
            </a:pPr>
            <a:endParaRPr lang="en-US" sz="334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4014"/>
              </a:lnSpc>
              <a:spcBef>
                <a:spcPct val="0"/>
              </a:spcBef>
            </a:pPr>
            <a:r>
              <a:rPr lang="en-US" sz="334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33719" y="7701073"/>
            <a:ext cx="6106287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Submitted To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 M ABDULLAH SHAFI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94306" y="2372238"/>
            <a:ext cx="13519287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A Hybrid Pixel-Label Adaptation Framework for Robust Waste Detection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31628" y="8963025"/>
            <a:ext cx="773340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Computer Vision &amp; Pattern Recognition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48128" y="4950465"/>
            <a:ext cx="2592884" cy="1652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4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22-48039-2</a:t>
            </a:r>
          </a:p>
          <a:p>
            <a:pPr algn="ctr">
              <a:lnSpc>
                <a:spcPts val="4284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22-48307-3</a:t>
            </a:r>
          </a:p>
          <a:p>
            <a:pPr algn="ctr">
              <a:lnSpc>
                <a:spcPts val="4284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22-49558-3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750" y="-54350"/>
            <a:ext cx="18419398" cy="10341348"/>
            <a:chOff x="0" y="0"/>
            <a:chExt cx="24559197" cy="13788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9261" cy="13788517"/>
            </a:xfrm>
            <a:custGeom>
              <a:avLst/>
              <a:gdLst/>
              <a:ahLst/>
              <a:cxnLst/>
              <a:rect l="l" t="t" r="r" b="b"/>
              <a:pathLst>
                <a:path w="24559261" h="13788517">
                  <a:moveTo>
                    <a:pt x="0" y="0"/>
                  </a:moveTo>
                  <a:lnTo>
                    <a:pt x="24559261" y="0"/>
                  </a:lnTo>
                  <a:lnTo>
                    <a:pt x="24559261" y="13788517"/>
                  </a:lnTo>
                  <a:lnTo>
                    <a:pt x="0" y="1378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56" r="-18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43301" y="459424"/>
            <a:ext cx="17240345" cy="9313831"/>
            <a:chOff x="0" y="0"/>
            <a:chExt cx="22987127" cy="124184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87127" cy="12418314"/>
            </a:xfrm>
            <a:custGeom>
              <a:avLst/>
              <a:gdLst/>
              <a:ahLst/>
              <a:cxnLst/>
              <a:rect l="l" t="t" r="r" b="b"/>
              <a:pathLst>
                <a:path w="22987127" h="12418314">
                  <a:moveTo>
                    <a:pt x="0" y="2069719"/>
                  </a:moveTo>
                  <a:cubicBezTo>
                    <a:pt x="0" y="926719"/>
                    <a:pt x="926719" y="0"/>
                    <a:pt x="2069719" y="0"/>
                  </a:cubicBezTo>
                  <a:lnTo>
                    <a:pt x="20917408" y="0"/>
                  </a:lnTo>
                  <a:cubicBezTo>
                    <a:pt x="22060536" y="0"/>
                    <a:pt x="22987127" y="926719"/>
                    <a:pt x="22987127" y="2069719"/>
                  </a:cubicBezTo>
                  <a:lnTo>
                    <a:pt x="22987127" y="10348595"/>
                  </a:lnTo>
                  <a:cubicBezTo>
                    <a:pt x="22987127" y="11491722"/>
                    <a:pt x="22060408" y="12418314"/>
                    <a:pt x="20917408" y="12418314"/>
                  </a:cubicBezTo>
                  <a:lnTo>
                    <a:pt x="2069719" y="12418314"/>
                  </a:lnTo>
                  <a:cubicBezTo>
                    <a:pt x="926719" y="12418441"/>
                    <a:pt x="0" y="11491722"/>
                    <a:pt x="0" y="1034859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77500" y="240812"/>
            <a:ext cx="1352360" cy="1352359"/>
            <a:chOff x="0" y="0"/>
            <a:chExt cx="1803146" cy="18031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3146" cy="1803146"/>
            </a:xfrm>
            <a:custGeom>
              <a:avLst/>
              <a:gdLst/>
              <a:ahLst/>
              <a:cxnLst/>
              <a:rect l="l" t="t" r="r" b="b"/>
              <a:pathLst>
                <a:path w="1803146" h="1803146">
                  <a:moveTo>
                    <a:pt x="0" y="901573"/>
                  </a:moveTo>
                  <a:cubicBezTo>
                    <a:pt x="0" y="403606"/>
                    <a:pt x="403606" y="0"/>
                    <a:pt x="901573" y="0"/>
                  </a:cubicBezTo>
                  <a:cubicBezTo>
                    <a:pt x="1399540" y="0"/>
                    <a:pt x="1803146" y="403606"/>
                    <a:pt x="1803146" y="901573"/>
                  </a:cubicBezTo>
                  <a:cubicBezTo>
                    <a:pt x="1803146" y="1399540"/>
                    <a:pt x="1399540" y="1803146"/>
                    <a:pt x="901573" y="1803146"/>
                  </a:cubicBezTo>
                  <a:cubicBezTo>
                    <a:pt x="403606" y="1803146"/>
                    <a:pt x="0" y="1399540"/>
                    <a:pt x="0" y="901573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5399990">
            <a:off x="13671676" y="-4941184"/>
            <a:ext cx="4607142" cy="7433252"/>
            <a:chOff x="0" y="0"/>
            <a:chExt cx="6142856" cy="9911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95000" y="9350304"/>
            <a:ext cx="940213" cy="940213"/>
            <a:chOff x="0" y="0"/>
            <a:chExt cx="1253617" cy="12536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3617" cy="1253617"/>
            </a:xfrm>
            <a:custGeom>
              <a:avLst/>
              <a:gdLst/>
              <a:ahLst/>
              <a:cxnLst/>
              <a:rect l="l" t="t" r="r" b="b"/>
              <a:pathLst>
                <a:path w="1253617" h="1253617">
                  <a:moveTo>
                    <a:pt x="0" y="626745"/>
                  </a:moveTo>
                  <a:cubicBezTo>
                    <a:pt x="0" y="280670"/>
                    <a:pt x="280670" y="0"/>
                    <a:pt x="626745" y="0"/>
                  </a:cubicBezTo>
                  <a:cubicBezTo>
                    <a:pt x="972820" y="0"/>
                    <a:pt x="1253617" y="280670"/>
                    <a:pt x="1253617" y="626745"/>
                  </a:cubicBezTo>
                  <a:cubicBezTo>
                    <a:pt x="1253617" y="972820"/>
                    <a:pt x="972947" y="1253617"/>
                    <a:pt x="626745" y="1253617"/>
                  </a:cubicBezTo>
                  <a:cubicBezTo>
                    <a:pt x="280543" y="1253617"/>
                    <a:pt x="0" y="972947"/>
                    <a:pt x="0" y="626745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5399990">
            <a:off x="165226" y="7794966"/>
            <a:ext cx="4607142" cy="7433252"/>
            <a:chOff x="0" y="0"/>
            <a:chExt cx="6142856" cy="9911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08765" y="3187340"/>
            <a:ext cx="15329813" cy="5920280"/>
            <a:chOff x="0" y="0"/>
            <a:chExt cx="20439751" cy="78937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439751" cy="7893707"/>
            </a:xfrm>
            <a:custGeom>
              <a:avLst/>
              <a:gdLst/>
              <a:ahLst/>
              <a:cxnLst/>
              <a:rect l="l" t="t" r="r" b="b"/>
              <a:pathLst>
                <a:path w="20439751" h="7893707">
                  <a:moveTo>
                    <a:pt x="0" y="0"/>
                  </a:moveTo>
                  <a:lnTo>
                    <a:pt x="20439751" y="0"/>
                  </a:lnTo>
                  <a:lnTo>
                    <a:pt x="20439751" y="7893707"/>
                  </a:lnTo>
                  <a:lnTo>
                    <a:pt x="0" y="7893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0439751" cy="79318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just">
                <a:lnSpc>
                  <a:spcPts val="3588"/>
                </a:lnSpc>
              </a:pPr>
              <a:endParaRPr dirty="0"/>
            </a:p>
            <a:p>
              <a:pPr algn="just">
                <a:lnSpc>
                  <a:spcPts val="3588"/>
                </a:lnSpc>
              </a:pPr>
              <a:r>
                <a:rPr lang="en-US" sz="2800" b="1" dirty="0">
                  <a:solidFill>
                    <a:srgbClr val="333333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The Global Waste Challenge </a:t>
              </a:r>
            </a:p>
            <a:p>
              <a:pPr marL="561342" lvl="1" indent="-280671" algn="just">
                <a:lnSpc>
                  <a:spcPts val="3588"/>
                </a:lnSpc>
                <a:buFont typeface="Arial"/>
                <a:buChar char="•"/>
              </a:pPr>
              <a:r>
                <a:rPr lang="en-US" sz="26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Rapid urbanization → Municipal Solid Waste (MSW) crisis.</a:t>
              </a:r>
            </a:p>
            <a:p>
              <a:pPr marL="561342" lvl="1" indent="-280671" algn="just">
                <a:lnSpc>
                  <a:spcPts val="3588"/>
                </a:lnSpc>
                <a:buFont typeface="Arial"/>
                <a:buChar char="•"/>
              </a:pPr>
              <a:r>
                <a:rPr lang="en-US" sz="26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By 2041, urban waste may reach 14 Lakhs tons/day.</a:t>
              </a:r>
            </a:p>
            <a:p>
              <a:pPr algn="just">
                <a:lnSpc>
                  <a:spcPts val="3588"/>
                </a:lnSpc>
              </a:pPr>
              <a:endParaRPr lang="en-US" sz="2600" dirty="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algn="just">
                <a:lnSpc>
                  <a:spcPts val="3588"/>
                </a:lnSpc>
              </a:pPr>
              <a:r>
                <a:rPr lang="en-US" sz="2800" b="1" dirty="0">
                  <a:solidFill>
                    <a:srgbClr val="333333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The Technological Promise </a:t>
              </a:r>
            </a:p>
            <a:p>
              <a:pPr marL="561342" lvl="1" indent="-280671" algn="just">
                <a:lnSpc>
                  <a:spcPts val="3588"/>
                </a:lnSpc>
                <a:buFont typeface="Arial"/>
                <a:buChar char="•"/>
              </a:pPr>
              <a:r>
                <a:rPr lang="en-US" sz="26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Manual sorting: slow (30–40 items/min) &amp; unsafe.</a:t>
              </a:r>
            </a:p>
            <a:p>
              <a:pPr marL="561342" lvl="1" indent="-280671" algn="just">
                <a:lnSpc>
                  <a:spcPts val="3588"/>
                </a:lnSpc>
                <a:buFont typeface="Arial"/>
                <a:buChar char="•"/>
              </a:pPr>
              <a:r>
                <a:rPr lang="en-US" sz="26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AI automation: faster (160 items/min) &amp; safer.</a:t>
              </a:r>
            </a:p>
            <a:p>
              <a:pPr algn="just">
                <a:lnSpc>
                  <a:spcPts val="3588"/>
                </a:lnSpc>
              </a:pPr>
              <a:r>
                <a:rPr lang="en-US" sz="26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.</a:t>
              </a:r>
            </a:p>
            <a:p>
              <a:pPr algn="just">
                <a:lnSpc>
                  <a:spcPts val="3588"/>
                </a:lnSpc>
              </a:pPr>
              <a:r>
                <a:rPr lang="en-US" sz="26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.</a:t>
              </a:r>
            </a:p>
            <a:p>
              <a:pPr algn="just">
                <a:lnSpc>
                  <a:spcPts val="3588"/>
                </a:lnSpc>
              </a:pPr>
              <a:endParaRPr lang="en-US" sz="2600" dirty="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algn="just">
                <a:lnSpc>
                  <a:spcPts val="3588"/>
                </a:lnSpc>
              </a:pPr>
              <a:endParaRPr lang="en-US" sz="2600" dirty="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algn="just">
                <a:lnSpc>
                  <a:spcPts val="3588"/>
                </a:lnSpc>
              </a:pPr>
              <a:endParaRPr lang="en-US" sz="2600" dirty="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08765" y="1593171"/>
            <a:ext cx="10176545" cy="1820647"/>
            <a:chOff x="0" y="0"/>
            <a:chExt cx="13568727" cy="24275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568727" cy="2427530"/>
            </a:xfrm>
            <a:custGeom>
              <a:avLst/>
              <a:gdLst/>
              <a:ahLst/>
              <a:cxnLst/>
              <a:rect l="l" t="t" r="r" b="b"/>
              <a:pathLst>
                <a:path w="13568727" h="2427530">
                  <a:moveTo>
                    <a:pt x="0" y="0"/>
                  </a:moveTo>
                  <a:lnTo>
                    <a:pt x="13568727" y="0"/>
                  </a:lnTo>
                  <a:lnTo>
                    <a:pt x="13568727" y="2427530"/>
                  </a:lnTo>
                  <a:lnTo>
                    <a:pt x="0" y="24275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3568727" cy="24465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139"/>
                </a:lnSpc>
              </a:pPr>
              <a:r>
                <a:rPr lang="en-US" sz="5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Introduction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1050449"/>
            <a:ext cx="15225150" cy="1226567"/>
            <a:chOff x="0" y="0"/>
            <a:chExt cx="20300200" cy="16354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300200" cy="1635423"/>
            </a:xfrm>
            <a:custGeom>
              <a:avLst/>
              <a:gdLst/>
              <a:ahLst/>
              <a:cxnLst/>
              <a:rect l="l" t="t" r="r" b="b"/>
              <a:pathLst>
                <a:path w="20300200" h="1635423">
                  <a:moveTo>
                    <a:pt x="0" y="0"/>
                  </a:moveTo>
                  <a:lnTo>
                    <a:pt x="20300200" y="0"/>
                  </a:lnTo>
                  <a:lnTo>
                    <a:pt x="20300200" y="1635423"/>
                  </a:lnTo>
                  <a:lnTo>
                    <a:pt x="0" y="1635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20300200" cy="1663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200"/>
                </a:lnSpc>
              </a:pP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750" y="-54350"/>
            <a:ext cx="18419398" cy="10341348"/>
            <a:chOff x="0" y="0"/>
            <a:chExt cx="24559197" cy="13788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9261" cy="13788517"/>
            </a:xfrm>
            <a:custGeom>
              <a:avLst/>
              <a:gdLst/>
              <a:ahLst/>
              <a:cxnLst/>
              <a:rect l="l" t="t" r="r" b="b"/>
              <a:pathLst>
                <a:path w="24559261" h="13788517">
                  <a:moveTo>
                    <a:pt x="0" y="0"/>
                  </a:moveTo>
                  <a:lnTo>
                    <a:pt x="24559261" y="0"/>
                  </a:lnTo>
                  <a:lnTo>
                    <a:pt x="24559261" y="13788517"/>
                  </a:lnTo>
                  <a:lnTo>
                    <a:pt x="0" y="1378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56" r="-18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43301" y="459424"/>
            <a:ext cx="17240345" cy="9313831"/>
            <a:chOff x="0" y="0"/>
            <a:chExt cx="22987127" cy="124184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87127" cy="12418314"/>
            </a:xfrm>
            <a:custGeom>
              <a:avLst/>
              <a:gdLst/>
              <a:ahLst/>
              <a:cxnLst/>
              <a:rect l="l" t="t" r="r" b="b"/>
              <a:pathLst>
                <a:path w="22987127" h="12418314">
                  <a:moveTo>
                    <a:pt x="0" y="2069719"/>
                  </a:moveTo>
                  <a:cubicBezTo>
                    <a:pt x="0" y="926719"/>
                    <a:pt x="926719" y="0"/>
                    <a:pt x="2069719" y="0"/>
                  </a:cubicBezTo>
                  <a:lnTo>
                    <a:pt x="20917408" y="0"/>
                  </a:lnTo>
                  <a:cubicBezTo>
                    <a:pt x="22060536" y="0"/>
                    <a:pt x="22987127" y="926719"/>
                    <a:pt x="22987127" y="2069719"/>
                  </a:cubicBezTo>
                  <a:lnTo>
                    <a:pt x="22987127" y="10348595"/>
                  </a:lnTo>
                  <a:cubicBezTo>
                    <a:pt x="22987127" y="11491722"/>
                    <a:pt x="22060408" y="12418314"/>
                    <a:pt x="20917408" y="12418314"/>
                  </a:cubicBezTo>
                  <a:lnTo>
                    <a:pt x="2069719" y="12418314"/>
                  </a:lnTo>
                  <a:cubicBezTo>
                    <a:pt x="926719" y="12418441"/>
                    <a:pt x="0" y="11491722"/>
                    <a:pt x="0" y="1034859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77500" y="240812"/>
            <a:ext cx="1352360" cy="1352359"/>
            <a:chOff x="0" y="0"/>
            <a:chExt cx="1803146" cy="18031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3146" cy="1803146"/>
            </a:xfrm>
            <a:custGeom>
              <a:avLst/>
              <a:gdLst/>
              <a:ahLst/>
              <a:cxnLst/>
              <a:rect l="l" t="t" r="r" b="b"/>
              <a:pathLst>
                <a:path w="1803146" h="1803146">
                  <a:moveTo>
                    <a:pt x="0" y="901573"/>
                  </a:moveTo>
                  <a:cubicBezTo>
                    <a:pt x="0" y="403606"/>
                    <a:pt x="403606" y="0"/>
                    <a:pt x="901573" y="0"/>
                  </a:cubicBezTo>
                  <a:cubicBezTo>
                    <a:pt x="1399540" y="0"/>
                    <a:pt x="1803146" y="403606"/>
                    <a:pt x="1803146" y="901573"/>
                  </a:cubicBezTo>
                  <a:cubicBezTo>
                    <a:pt x="1803146" y="1399540"/>
                    <a:pt x="1399540" y="1803146"/>
                    <a:pt x="901573" y="1803146"/>
                  </a:cubicBezTo>
                  <a:cubicBezTo>
                    <a:pt x="403606" y="1803146"/>
                    <a:pt x="0" y="1399540"/>
                    <a:pt x="0" y="901573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5399990">
            <a:off x="13671676" y="-4941184"/>
            <a:ext cx="4607142" cy="7433252"/>
            <a:chOff x="0" y="0"/>
            <a:chExt cx="6142856" cy="9911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95000" y="9350304"/>
            <a:ext cx="940213" cy="940213"/>
            <a:chOff x="0" y="0"/>
            <a:chExt cx="1253617" cy="12536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3617" cy="1253617"/>
            </a:xfrm>
            <a:custGeom>
              <a:avLst/>
              <a:gdLst/>
              <a:ahLst/>
              <a:cxnLst/>
              <a:rect l="l" t="t" r="r" b="b"/>
              <a:pathLst>
                <a:path w="1253617" h="1253617">
                  <a:moveTo>
                    <a:pt x="0" y="626745"/>
                  </a:moveTo>
                  <a:cubicBezTo>
                    <a:pt x="0" y="280670"/>
                    <a:pt x="280670" y="0"/>
                    <a:pt x="626745" y="0"/>
                  </a:cubicBezTo>
                  <a:cubicBezTo>
                    <a:pt x="972820" y="0"/>
                    <a:pt x="1253617" y="280670"/>
                    <a:pt x="1253617" y="626745"/>
                  </a:cubicBezTo>
                  <a:cubicBezTo>
                    <a:pt x="1253617" y="972820"/>
                    <a:pt x="972947" y="1253617"/>
                    <a:pt x="626745" y="1253617"/>
                  </a:cubicBezTo>
                  <a:cubicBezTo>
                    <a:pt x="280543" y="1253617"/>
                    <a:pt x="0" y="972947"/>
                    <a:pt x="0" y="626745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5399990">
            <a:off x="165226" y="7794966"/>
            <a:ext cx="4607142" cy="7433252"/>
            <a:chOff x="0" y="0"/>
            <a:chExt cx="6142856" cy="9911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08765" y="2277016"/>
            <a:ext cx="624936" cy="1820647"/>
            <a:chOff x="0" y="0"/>
            <a:chExt cx="833248" cy="24275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33248" cy="2427530"/>
            </a:xfrm>
            <a:custGeom>
              <a:avLst/>
              <a:gdLst/>
              <a:ahLst/>
              <a:cxnLst/>
              <a:rect l="l" t="t" r="r" b="b"/>
              <a:pathLst>
                <a:path w="833248" h="2427530">
                  <a:moveTo>
                    <a:pt x="0" y="0"/>
                  </a:moveTo>
                  <a:lnTo>
                    <a:pt x="833248" y="0"/>
                  </a:lnTo>
                  <a:lnTo>
                    <a:pt x="833248" y="2427530"/>
                  </a:lnTo>
                  <a:lnTo>
                    <a:pt x="0" y="24275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833248" cy="24465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8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12658" y="1100494"/>
            <a:ext cx="15225150" cy="1226567"/>
            <a:chOff x="0" y="0"/>
            <a:chExt cx="20300200" cy="16354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00200" cy="1635423"/>
            </a:xfrm>
            <a:custGeom>
              <a:avLst/>
              <a:gdLst/>
              <a:ahLst/>
              <a:cxnLst/>
              <a:rect l="l" t="t" r="r" b="b"/>
              <a:pathLst>
                <a:path w="20300200" h="1635423">
                  <a:moveTo>
                    <a:pt x="0" y="0"/>
                  </a:moveTo>
                  <a:lnTo>
                    <a:pt x="20300200" y="0"/>
                  </a:lnTo>
                  <a:lnTo>
                    <a:pt x="20300200" y="1635423"/>
                  </a:lnTo>
                  <a:lnTo>
                    <a:pt x="0" y="1635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20300200" cy="1663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3333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Problem Statement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3003949"/>
            <a:ext cx="16230600" cy="8038695"/>
            <a:chOff x="0" y="0"/>
            <a:chExt cx="21640800" cy="107182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640800" cy="10718260"/>
            </a:xfrm>
            <a:custGeom>
              <a:avLst/>
              <a:gdLst/>
              <a:ahLst/>
              <a:cxnLst/>
              <a:rect l="l" t="t" r="r" b="b"/>
              <a:pathLst>
                <a:path w="21640800" h="10718260">
                  <a:moveTo>
                    <a:pt x="0" y="0"/>
                  </a:moveTo>
                  <a:lnTo>
                    <a:pt x="21640800" y="0"/>
                  </a:lnTo>
                  <a:lnTo>
                    <a:pt x="21640800" y="10718260"/>
                  </a:lnTo>
                  <a:lnTo>
                    <a:pt x="0" y="107182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1640800" cy="107658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just">
                <a:lnSpc>
                  <a:spcPts val="3726"/>
                </a:lnSpc>
              </a:pPr>
              <a:r>
                <a:rPr lang="en-US" sz="27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Current AI models (YOLOv8, </a:t>
              </a:r>
              <a:r>
                <a:rPr lang="en-US" sz="2700" dirty="0" err="1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ResNet</a:t>
              </a:r>
              <a:r>
                <a:rPr lang="en-US" sz="27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) fail under domain shift.</a:t>
              </a:r>
              <a:r>
                <a:rPr lang="en-US" sz="2700" b="1" dirty="0">
                  <a:solidFill>
                    <a:srgbClr val="333333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 </a:t>
              </a:r>
            </a:p>
            <a:p>
              <a:pPr algn="just">
                <a:lnSpc>
                  <a:spcPts val="3726"/>
                </a:lnSpc>
              </a:pPr>
              <a:endParaRPr lang="en-US" sz="2700" b="1" dirty="0">
                <a:solidFill>
                  <a:srgbClr val="333333"/>
                </a:solidFill>
                <a:latin typeface="Tahoma Bold"/>
                <a:ea typeface="Tahoma Bold"/>
                <a:cs typeface="Tahoma Bold"/>
                <a:sym typeface="Tahoma Bold"/>
              </a:endParaRPr>
            </a:p>
            <a:p>
              <a:pPr marL="582930" lvl="1" indent="-291465" algn="just">
                <a:lnSpc>
                  <a:spcPts val="3726"/>
                </a:lnSpc>
                <a:buFont typeface="Arial"/>
                <a:buChar char="•"/>
              </a:pPr>
              <a:r>
                <a:rPr lang="en-US" sz="2700" b="1" dirty="0">
                  <a:solidFill>
                    <a:srgbClr val="333333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Domain Shift:</a:t>
              </a:r>
              <a:r>
                <a:rPr lang="en-US" sz="27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 When a model trained on one dataset performs poorly on a different, unseen dataset due to differences in data distribution.</a:t>
              </a:r>
            </a:p>
            <a:p>
              <a:pPr algn="just">
                <a:lnSpc>
                  <a:spcPts val="3726"/>
                </a:lnSpc>
              </a:pPr>
              <a:r>
                <a:rPr lang="en-US" sz="27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  </a:t>
              </a:r>
            </a:p>
            <a:p>
              <a:pPr algn="just">
                <a:lnSpc>
                  <a:spcPts val="3726"/>
                </a:lnSpc>
              </a:pPr>
              <a:r>
                <a:rPr lang="en-US" sz="2700" b="1" dirty="0">
                  <a:solidFill>
                    <a:srgbClr val="333333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Why Current AI Models Fail in Real-World Waste Detection</a:t>
              </a:r>
            </a:p>
            <a:p>
              <a:pPr algn="just">
                <a:lnSpc>
                  <a:spcPts val="3726"/>
                </a:lnSpc>
              </a:pPr>
              <a:endParaRPr lang="en-US" sz="2700" b="1" dirty="0">
                <a:solidFill>
                  <a:srgbClr val="333333"/>
                </a:solidFill>
                <a:latin typeface="Tahoma Bold"/>
                <a:ea typeface="Tahoma Bold"/>
                <a:cs typeface="Tahoma Bold"/>
                <a:sym typeface="Tahoma Bold"/>
              </a:endParaRPr>
            </a:p>
            <a:p>
              <a:pPr marL="582930" lvl="1" indent="-291465" algn="just">
                <a:lnSpc>
                  <a:spcPts val="3726"/>
                </a:lnSpc>
                <a:buFont typeface="Arial"/>
                <a:buChar char="•"/>
              </a:pPr>
              <a:r>
                <a:rPr lang="en-US" sz="27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High accuracy in lab → poor generalization in industry.</a:t>
              </a:r>
            </a:p>
            <a:p>
              <a:pPr marL="582930" lvl="1" indent="-291465" algn="just">
                <a:lnSpc>
                  <a:spcPts val="3726"/>
                </a:lnSpc>
                <a:buFont typeface="Arial"/>
                <a:buChar char="•"/>
              </a:pPr>
              <a:r>
                <a:rPr lang="en-US" sz="27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Domain shift causes accuracy drop to 10%.</a:t>
              </a:r>
            </a:p>
            <a:p>
              <a:pPr marL="582930" lvl="1" indent="-291465" algn="just">
                <a:lnSpc>
                  <a:spcPts val="3726"/>
                </a:lnSpc>
                <a:buFont typeface="Arial"/>
                <a:buChar char="•"/>
              </a:pPr>
              <a:r>
                <a:rPr lang="en-US" sz="27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Existing methods focus on either pixel-level OR label-level adaptation.</a:t>
              </a:r>
            </a:p>
            <a:p>
              <a:pPr algn="just">
                <a:lnSpc>
                  <a:spcPts val="3726"/>
                </a:lnSpc>
              </a:pPr>
              <a:r>
                <a:rPr lang="en-US" sz="2700" b="1" dirty="0">
                  <a:solidFill>
                    <a:srgbClr val="333333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Systemic Barriers</a:t>
              </a:r>
            </a:p>
            <a:p>
              <a:pPr marL="582930" lvl="1" indent="-291465" algn="just">
                <a:lnSpc>
                  <a:spcPts val="3726"/>
                </a:lnSpc>
                <a:buFont typeface="Arial"/>
                <a:buChar char="•"/>
              </a:pPr>
              <a:r>
                <a:rPr lang="en-US" sz="27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Visual mismatch between datasets.</a:t>
              </a:r>
            </a:p>
            <a:p>
              <a:pPr algn="just">
                <a:lnSpc>
                  <a:spcPts val="3726"/>
                </a:lnSpc>
              </a:pPr>
              <a:endParaRPr lang="en-US" sz="2700" dirty="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algn="just">
                <a:lnSpc>
                  <a:spcPts val="3726"/>
                </a:lnSpc>
              </a:pPr>
              <a:endParaRPr lang="en-US" sz="2700" dirty="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algn="just">
                <a:lnSpc>
                  <a:spcPts val="3726"/>
                </a:lnSpc>
              </a:pPr>
              <a:endParaRPr lang="en-US" sz="2700" dirty="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algn="just">
                <a:lnSpc>
                  <a:spcPts val="3726"/>
                </a:lnSpc>
              </a:pPr>
              <a:endParaRPr lang="en-US" sz="2700" dirty="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algn="just">
                <a:lnSpc>
                  <a:spcPts val="3726"/>
                </a:lnSpc>
              </a:pPr>
              <a:endParaRPr lang="en-US" sz="2700" dirty="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750" y="-54350"/>
            <a:ext cx="18419398" cy="10341348"/>
            <a:chOff x="0" y="0"/>
            <a:chExt cx="24559197" cy="13788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9261" cy="13788517"/>
            </a:xfrm>
            <a:custGeom>
              <a:avLst/>
              <a:gdLst/>
              <a:ahLst/>
              <a:cxnLst/>
              <a:rect l="l" t="t" r="r" b="b"/>
              <a:pathLst>
                <a:path w="24559261" h="13788517">
                  <a:moveTo>
                    <a:pt x="0" y="0"/>
                  </a:moveTo>
                  <a:lnTo>
                    <a:pt x="24559261" y="0"/>
                  </a:lnTo>
                  <a:lnTo>
                    <a:pt x="24559261" y="13788517"/>
                  </a:lnTo>
                  <a:lnTo>
                    <a:pt x="0" y="1378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56" r="-18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33776" y="459424"/>
            <a:ext cx="17240345" cy="9313831"/>
            <a:chOff x="0" y="0"/>
            <a:chExt cx="22987127" cy="124184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87127" cy="12418314"/>
            </a:xfrm>
            <a:custGeom>
              <a:avLst/>
              <a:gdLst/>
              <a:ahLst/>
              <a:cxnLst/>
              <a:rect l="l" t="t" r="r" b="b"/>
              <a:pathLst>
                <a:path w="22987127" h="12418314">
                  <a:moveTo>
                    <a:pt x="0" y="2069719"/>
                  </a:moveTo>
                  <a:cubicBezTo>
                    <a:pt x="0" y="926719"/>
                    <a:pt x="926719" y="0"/>
                    <a:pt x="2069719" y="0"/>
                  </a:cubicBezTo>
                  <a:lnTo>
                    <a:pt x="20917408" y="0"/>
                  </a:lnTo>
                  <a:cubicBezTo>
                    <a:pt x="22060536" y="0"/>
                    <a:pt x="22987127" y="926719"/>
                    <a:pt x="22987127" y="2069719"/>
                  </a:cubicBezTo>
                  <a:lnTo>
                    <a:pt x="22987127" y="10348595"/>
                  </a:lnTo>
                  <a:cubicBezTo>
                    <a:pt x="22987127" y="11491722"/>
                    <a:pt x="22060408" y="12418314"/>
                    <a:pt x="20917408" y="12418314"/>
                  </a:cubicBezTo>
                  <a:lnTo>
                    <a:pt x="2069719" y="12418314"/>
                  </a:lnTo>
                  <a:cubicBezTo>
                    <a:pt x="926719" y="12418441"/>
                    <a:pt x="0" y="11491722"/>
                    <a:pt x="0" y="1034859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77500" y="240812"/>
            <a:ext cx="1352360" cy="1352359"/>
            <a:chOff x="0" y="0"/>
            <a:chExt cx="1803146" cy="18031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3146" cy="1803146"/>
            </a:xfrm>
            <a:custGeom>
              <a:avLst/>
              <a:gdLst/>
              <a:ahLst/>
              <a:cxnLst/>
              <a:rect l="l" t="t" r="r" b="b"/>
              <a:pathLst>
                <a:path w="1803146" h="1803146">
                  <a:moveTo>
                    <a:pt x="0" y="901573"/>
                  </a:moveTo>
                  <a:cubicBezTo>
                    <a:pt x="0" y="403606"/>
                    <a:pt x="403606" y="0"/>
                    <a:pt x="901573" y="0"/>
                  </a:cubicBezTo>
                  <a:cubicBezTo>
                    <a:pt x="1399540" y="0"/>
                    <a:pt x="1803146" y="403606"/>
                    <a:pt x="1803146" y="901573"/>
                  </a:cubicBezTo>
                  <a:cubicBezTo>
                    <a:pt x="1803146" y="1399540"/>
                    <a:pt x="1399540" y="1803146"/>
                    <a:pt x="901573" y="1803146"/>
                  </a:cubicBezTo>
                  <a:cubicBezTo>
                    <a:pt x="403606" y="1803146"/>
                    <a:pt x="0" y="1399540"/>
                    <a:pt x="0" y="901573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5399990">
            <a:off x="13671676" y="-4941184"/>
            <a:ext cx="4607142" cy="7433252"/>
            <a:chOff x="0" y="0"/>
            <a:chExt cx="6142856" cy="9911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95000" y="9350304"/>
            <a:ext cx="940213" cy="940213"/>
            <a:chOff x="0" y="0"/>
            <a:chExt cx="1253617" cy="12536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3617" cy="1253617"/>
            </a:xfrm>
            <a:custGeom>
              <a:avLst/>
              <a:gdLst/>
              <a:ahLst/>
              <a:cxnLst/>
              <a:rect l="l" t="t" r="r" b="b"/>
              <a:pathLst>
                <a:path w="1253617" h="1253617">
                  <a:moveTo>
                    <a:pt x="0" y="626745"/>
                  </a:moveTo>
                  <a:cubicBezTo>
                    <a:pt x="0" y="280670"/>
                    <a:pt x="280670" y="0"/>
                    <a:pt x="626745" y="0"/>
                  </a:cubicBezTo>
                  <a:cubicBezTo>
                    <a:pt x="972820" y="0"/>
                    <a:pt x="1253617" y="280670"/>
                    <a:pt x="1253617" y="626745"/>
                  </a:cubicBezTo>
                  <a:cubicBezTo>
                    <a:pt x="1253617" y="972820"/>
                    <a:pt x="972947" y="1253617"/>
                    <a:pt x="626745" y="1253617"/>
                  </a:cubicBezTo>
                  <a:cubicBezTo>
                    <a:pt x="280543" y="1253617"/>
                    <a:pt x="0" y="972947"/>
                    <a:pt x="0" y="626745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5399990">
            <a:off x="165226" y="7794966"/>
            <a:ext cx="4607142" cy="7433252"/>
            <a:chOff x="0" y="0"/>
            <a:chExt cx="6142856" cy="9911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1050449"/>
            <a:ext cx="15225150" cy="1226567"/>
            <a:chOff x="0" y="0"/>
            <a:chExt cx="20300200" cy="16354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00200" cy="1635423"/>
            </a:xfrm>
            <a:custGeom>
              <a:avLst/>
              <a:gdLst/>
              <a:ahLst/>
              <a:cxnLst/>
              <a:rect l="l" t="t" r="r" b="b"/>
              <a:pathLst>
                <a:path w="20300200" h="1635423">
                  <a:moveTo>
                    <a:pt x="0" y="0"/>
                  </a:moveTo>
                  <a:lnTo>
                    <a:pt x="20300200" y="0"/>
                  </a:lnTo>
                  <a:lnTo>
                    <a:pt x="20300200" y="1635423"/>
                  </a:lnTo>
                  <a:lnTo>
                    <a:pt x="0" y="1635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300200" cy="1663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3333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Objectives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08765" y="2277016"/>
            <a:ext cx="10176545" cy="753847"/>
            <a:chOff x="0" y="0"/>
            <a:chExt cx="13568727" cy="10051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568727" cy="1005130"/>
            </a:xfrm>
            <a:custGeom>
              <a:avLst/>
              <a:gdLst/>
              <a:ahLst/>
              <a:cxnLst/>
              <a:rect l="l" t="t" r="r" b="b"/>
              <a:pathLst>
                <a:path w="13568727" h="1005130">
                  <a:moveTo>
                    <a:pt x="0" y="0"/>
                  </a:moveTo>
                  <a:lnTo>
                    <a:pt x="13568727" y="0"/>
                  </a:lnTo>
                  <a:lnTo>
                    <a:pt x="13568727" y="1005130"/>
                  </a:lnTo>
                  <a:lnTo>
                    <a:pt x="0" y="10051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3568727" cy="10241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84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76400" y="2907060"/>
            <a:ext cx="15447188" cy="2337562"/>
            <a:chOff x="0" y="0"/>
            <a:chExt cx="20596250" cy="311674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596251" cy="3116749"/>
            </a:xfrm>
            <a:custGeom>
              <a:avLst/>
              <a:gdLst/>
              <a:ahLst/>
              <a:cxnLst/>
              <a:rect l="l" t="t" r="r" b="b"/>
              <a:pathLst>
                <a:path w="20596251" h="3116749">
                  <a:moveTo>
                    <a:pt x="0" y="0"/>
                  </a:moveTo>
                  <a:lnTo>
                    <a:pt x="20596251" y="0"/>
                  </a:lnTo>
                  <a:lnTo>
                    <a:pt x="20596251" y="3116749"/>
                  </a:lnTo>
                  <a:lnTo>
                    <a:pt x="0" y="31167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0596250" cy="31548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just">
                <a:lnSpc>
                  <a:spcPts val="3699"/>
                </a:lnSpc>
              </a:pPr>
              <a:r>
                <a:rPr lang="en-US" sz="2700" b="1" dirty="0">
                  <a:solidFill>
                    <a:srgbClr val="333333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General Objective</a:t>
              </a:r>
            </a:p>
            <a:p>
              <a:pPr marL="582932" lvl="1" indent="-291466" algn="just">
                <a:lnSpc>
                  <a:spcPts val="3699"/>
                </a:lnSpc>
                <a:buFont typeface="Arial"/>
                <a:buChar char="•"/>
              </a:pPr>
              <a:r>
                <a:rPr lang="en-US" sz="27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To propose a hybrid framework combining </a:t>
              </a:r>
              <a:r>
                <a:rPr lang="en-US" sz="2700" dirty="0" err="1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CycleGAN</a:t>
              </a:r>
              <a:r>
                <a:rPr lang="en-US" sz="27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 + YOLOv8 for robust waste detection.</a:t>
              </a:r>
            </a:p>
            <a:p>
              <a:pPr algn="just">
                <a:lnSpc>
                  <a:spcPts val="3699"/>
                </a:lnSpc>
              </a:pPr>
              <a:endParaRPr lang="en-US" sz="2700" dirty="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30355" y="5429308"/>
            <a:ext cx="15447188" cy="2337562"/>
            <a:chOff x="0" y="0"/>
            <a:chExt cx="20596250" cy="311674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596251" cy="3116749"/>
            </a:xfrm>
            <a:custGeom>
              <a:avLst/>
              <a:gdLst/>
              <a:ahLst/>
              <a:cxnLst/>
              <a:rect l="l" t="t" r="r" b="b"/>
              <a:pathLst>
                <a:path w="20596251" h="3116749">
                  <a:moveTo>
                    <a:pt x="0" y="0"/>
                  </a:moveTo>
                  <a:lnTo>
                    <a:pt x="20596251" y="0"/>
                  </a:lnTo>
                  <a:lnTo>
                    <a:pt x="20596251" y="3116749"/>
                  </a:lnTo>
                  <a:lnTo>
                    <a:pt x="0" y="31167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0596250" cy="31548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just">
                <a:lnSpc>
                  <a:spcPts val="3699"/>
                </a:lnSpc>
              </a:pPr>
              <a:r>
                <a:rPr lang="en-US" sz="2700" b="1" dirty="0">
                  <a:solidFill>
                    <a:srgbClr val="333333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Specific Objectives</a:t>
              </a:r>
            </a:p>
            <a:p>
              <a:pPr marL="582932" lvl="1" indent="-291466" algn="just">
                <a:lnSpc>
                  <a:spcPts val="3699"/>
                </a:lnSpc>
                <a:buFont typeface="Arial"/>
                <a:buChar char="•"/>
              </a:pPr>
              <a:r>
                <a:rPr lang="en-US" sz="27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Quantify performance improvement under domain shift.</a:t>
              </a:r>
            </a:p>
            <a:p>
              <a:pPr marL="582932" lvl="1" indent="-291466" algn="just">
                <a:lnSpc>
                  <a:spcPts val="3699"/>
                </a:lnSpc>
                <a:buFont typeface="Arial"/>
                <a:buChar char="•"/>
              </a:pPr>
              <a:r>
                <a:rPr lang="en-US" sz="2700" dirty="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Reduce false negatives in cluttered environments.</a:t>
              </a:r>
            </a:p>
            <a:p>
              <a:pPr algn="just">
                <a:lnSpc>
                  <a:spcPts val="3699"/>
                </a:lnSpc>
              </a:pPr>
              <a:endParaRPr lang="en-US" sz="2700" dirty="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8765" y="4656411"/>
            <a:ext cx="10176545" cy="753847"/>
            <a:chOff x="0" y="0"/>
            <a:chExt cx="13568727" cy="10051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568727" cy="1005130"/>
            </a:xfrm>
            <a:custGeom>
              <a:avLst/>
              <a:gdLst/>
              <a:ahLst/>
              <a:cxnLst/>
              <a:rect l="l" t="t" r="r" b="b"/>
              <a:pathLst>
                <a:path w="13568727" h="1005130">
                  <a:moveTo>
                    <a:pt x="0" y="0"/>
                  </a:moveTo>
                  <a:lnTo>
                    <a:pt x="13568727" y="0"/>
                  </a:lnTo>
                  <a:lnTo>
                    <a:pt x="13568727" y="1005130"/>
                  </a:lnTo>
                  <a:lnTo>
                    <a:pt x="0" y="10051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13568727" cy="10241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84"/>
                </a:lnSpc>
              </a:pP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750" y="-54350"/>
            <a:ext cx="18419398" cy="10341348"/>
            <a:chOff x="0" y="0"/>
            <a:chExt cx="24559197" cy="13788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9261" cy="13788517"/>
            </a:xfrm>
            <a:custGeom>
              <a:avLst/>
              <a:gdLst/>
              <a:ahLst/>
              <a:cxnLst/>
              <a:rect l="l" t="t" r="r" b="b"/>
              <a:pathLst>
                <a:path w="24559261" h="13788517">
                  <a:moveTo>
                    <a:pt x="0" y="0"/>
                  </a:moveTo>
                  <a:lnTo>
                    <a:pt x="24559261" y="0"/>
                  </a:lnTo>
                  <a:lnTo>
                    <a:pt x="24559261" y="13788517"/>
                  </a:lnTo>
                  <a:lnTo>
                    <a:pt x="0" y="1378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56" r="-18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33776" y="459424"/>
            <a:ext cx="17240345" cy="9313831"/>
            <a:chOff x="0" y="0"/>
            <a:chExt cx="22987127" cy="124184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87127" cy="12418314"/>
            </a:xfrm>
            <a:custGeom>
              <a:avLst/>
              <a:gdLst/>
              <a:ahLst/>
              <a:cxnLst/>
              <a:rect l="l" t="t" r="r" b="b"/>
              <a:pathLst>
                <a:path w="22987127" h="12418314">
                  <a:moveTo>
                    <a:pt x="0" y="2069719"/>
                  </a:moveTo>
                  <a:cubicBezTo>
                    <a:pt x="0" y="926719"/>
                    <a:pt x="926719" y="0"/>
                    <a:pt x="2069719" y="0"/>
                  </a:cubicBezTo>
                  <a:lnTo>
                    <a:pt x="20917408" y="0"/>
                  </a:lnTo>
                  <a:cubicBezTo>
                    <a:pt x="22060536" y="0"/>
                    <a:pt x="22987127" y="926719"/>
                    <a:pt x="22987127" y="2069719"/>
                  </a:cubicBezTo>
                  <a:lnTo>
                    <a:pt x="22987127" y="10348595"/>
                  </a:lnTo>
                  <a:cubicBezTo>
                    <a:pt x="22987127" y="11491722"/>
                    <a:pt x="22060408" y="12418314"/>
                    <a:pt x="20917408" y="12418314"/>
                  </a:cubicBezTo>
                  <a:lnTo>
                    <a:pt x="2069719" y="12418314"/>
                  </a:lnTo>
                  <a:cubicBezTo>
                    <a:pt x="926719" y="12418441"/>
                    <a:pt x="0" y="11491722"/>
                    <a:pt x="0" y="1034859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77500" y="240812"/>
            <a:ext cx="1352360" cy="1352359"/>
            <a:chOff x="0" y="0"/>
            <a:chExt cx="1803146" cy="18031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3146" cy="1803146"/>
            </a:xfrm>
            <a:custGeom>
              <a:avLst/>
              <a:gdLst/>
              <a:ahLst/>
              <a:cxnLst/>
              <a:rect l="l" t="t" r="r" b="b"/>
              <a:pathLst>
                <a:path w="1803146" h="1803146">
                  <a:moveTo>
                    <a:pt x="0" y="901573"/>
                  </a:moveTo>
                  <a:cubicBezTo>
                    <a:pt x="0" y="403606"/>
                    <a:pt x="403606" y="0"/>
                    <a:pt x="901573" y="0"/>
                  </a:cubicBezTo>
                  <a:cubicBezTo>
                    <a:pt x="1399540" y="0"/>
                    <a:pt x="1803146" y="403606"/>
                    <a:pt x="1803146" y="901573"/>
                  </a:cubicBezTo>
                  <a:cubicBezTo>
                    <a:pt x="1803146" y="1399540"/>
                    <a:pt x="1399540" y="1803146"/>
                    <a:pt x="901573" y="1803146"/>
                  </a:cubicBezTo>
                  <a:cubicBezTo>
                    <a:pt x="403606" y="1803146"/>
                    <a:pt x="0" y="1399540"/>
                    <a:pt x="0" y="901573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5399990">
            <a:off x="13671676" y="-4941184"/>
            <a:ext cx="4607142" cy="7433252"/>
            <a:chOff x="0" y="0"/>
            <a:chExt cx="6142856" cy="9911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95000" y="9350304"/>
            <a:ext cx="940213" cy="940213"/>
            <a:chOff x="0" y="0"/>
            <a:chExt cx="1253617" cy="12536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3617" cy="1253617"/>
            </a:xfrm>
            <a:custGeom>
              <a:avLst/>
              <a:gdLst/>
              <a:ahLst/>
              <a:cxnLst/>
              <a:rect l="l" t="t" r="r" b="b"/>
              <a:pathLst>
                <a:path w="1253617" h="1253617">
                  <a:moveTo>
                    <a:pt x="0" y="626745"/>
                  </a:moveTo>
                  <a:cubicBezTo>
                    <a:pt x="0" y="280670"/>
                    <a:pt x="280670" y="0"/>
                    <a:pt x="626745" y="0"/>
                  </a:cubicBezTo>
                  <a:cubicBezTo>
                    <a:pt x="972820" y="0"/>
                    <a:pt x="1253617" y="280670"/>
                    <a:pt x="1253617" y="626745"/>
                  </a:cubicBezTo>
                  <a:cubicBezTo>
                    <a:pt x="1253617" y="972820"/>
                    <a:pt x="972947" y="1253617"/>
                    <a:pt x="626745" y="1253617"/>
                  </a:cubicBezTo>
                  <a:cubicBezTo>
                    <a:pt x="280543" y="1253617"/>
                    <a:pt x="0" y="972947"/>
                    <a:pt x="0" y="626745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5399990">
            <a:off x="165226" y="7794966"/>
            <a:ext cx="4607142" cy="7433252"/>
            <a:chOff x="0" y="0"/>
            <a:chExt cx="6142856" cy="9911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1050449"/>
            <a:ext cx="15225150" cy="1226567"/>
            <a:chOff x="0" y="0"/>
            <a:chExt cx="20300200" cy="16354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00200" cy="1635423"/>
            </a:xfrm>
            <a:custGeom>
              <a:avLst/>
              <a:gdLst/>
              <a:ahLst/>
              <a:cxnLst/>
              <a:rect l="l" t="t" r="r" b="b"/>
              <a:pathLst>
                <a:path w="20300200" h="1635423">
                  <a:moveTo>
                    <a:pt x="0" y="0"/>
                  </a:moveTo>
                  <a:lnTo>
                    <a:pt x="20300200" y="0"/>
                  </a:lnTo>
                  <a:lnTo>
                    <a:pt x="20300200" y="1635423"/>
                  </a:lnTo>
                  <a:lnTo>
                    <a:pt x="0" y="1635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300200" cy="1663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3333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Literature Review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08765" y="2277016"/>
            <a:ext cx="10176545" cy="753847"/>
            <a:chOff x="0" y="0"/>
            <a:chExt cx="13568727" cy="10051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568727" cy="1005130"/>
            </a:xfrm>
            <a:custGeom>
              <a:avLst/>
              <a:gdLst/>
              <a:ahLst/>
              <a:cxnLst/>
              <a:rect l="l" t="t" r="r" b="b"/>
              <a:pathLst>
                <a:path w="13568727" h="1005130">
                  <a:moveTo>
                    <a:pt x="0" y="0"/>
                  </a:moveTo>
                  <a:lnTo>
                    <a:pt x="13568727" y="0"/>
                  </a:lnTo>
                  <a:lnTo>
                    <a:pt x="13568727" y="1005130"/>
                  </a:lnTo>
                  <a:lnTo>
                    <a:pt x="0" y="10051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3568727" cy="10241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84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92476" y="2267491"/>
            <a:ext cx="14497597" cy="527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86"/>
              </a:lnSpc>
            </a:pPr>
            <a:endParaRPr/>
          </a:p>
          <a:p>
            <a:pPr marL="632542" lvl="1" indent="-316271" algn="just">
              <a:lnSpc>
                <a:spcPts val="3486"/>
              </a:lnSpc>
              <a:buFont typeface="Arial"/>
              <a:buChar char="•"/>
            </a:pPr>
            <a:r>
              <a:rPr lang="en-US" sz="292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ResNet152:</a:t>
            </a:r>
            <a:r>
              <a:rPr lang="en-US" sz="29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Good classification (~94%), but cannot show object location.</a:t>
            </a:r>
          </a:p>
          <a:p>
            <a:pPr algn="just">
              <a:lnSpc>
                <a:spcPts val="3486"/>
              </a:lnSpc>
            </a:pPr>
            <a:endParaRPr lang="en-US" sz="292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32542" lvl="1" indent="-316271" algn="just">
              <a:lnSpc>
                <a:spcPts val="3486"/>
              </a:lnSpc>
              <a:buFont typeface="Arial"/>
              <a:buChar char="•"/>
            </a:pPr>
            <a:r>
              <a:rPr lang="en-US" sz="292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YOLOv7    :</a:t>
            </a:r>
            <a:r>
              <a:rPr lang="en-US" sz="29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Strong detection (~95.9%), but only in one dataset.</a:t>
            </a:r>
          </a:p>
          <a:p>
            <a:pPr algn="just">
              <a:lnSpc>
                <a:spcPts val="3486"/>
              </a:lnSpc>
            </a:pPr>
            <a:endParaRPr lang="en-US" sz="292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32542" lvl="1" indent="-316271" algn="just">
              <a:lnSpc>
                <a:spcPts val="3486"/>
              </a:lnSpc>
              <a:buFont typeface="Arial"/>
              <a:buChar char="•"/>
            </a:pPr>
            <a:r>
              <a:rPr lang="en-US" sz="292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YOLOv8    : </a:t>
            </a:r>
            <a:r>
              <a:rPr lang="en-US" sz="29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Accurate in lab datasets, but fails in real-world domain shift.</a:t>
            </a:r>
          </a:p>
          <a:p>
            <a:pPr algn="just">
              <a:lnSpc>
                <a:spcPts val="3486"/>
              </a:lnSpc>
            </a:pPr>
            <a:endParaRPr lang="en-US" sz="292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32542" lvl="1" indent="-316271" algn="just">
              <a:lnSpc>
                <a:spcPts val="3486"/>
              </a:lnSpc>
              <a:buFont typeface="Arial"/>
              <a:buChar char="•"/>
            </a:pPr>
            <a:r>
              <a:rPr lang="en-US" sz="292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Gap         :</a:t>
            </a:r>
            <a:r>
              <a:rPr lang="en-US" sz="29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No study combines pixel-level adaptation (GAN style transfer) with label-level adaptation (self-training).</a:t>
            </a:r>
          </a:p>
          <a:p>
            <a:pPr algn="just">
              <a:lnSpc>
                <a:spcPts val="3486"/>
              </a:lnSpc>
            </a:pPr>
            <a:endParaRPr lang="en-US" sz="292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just">
              <a:lnSpc>
                <a:spcPts val="3486"/>
              </a:lnSpc>
            </a:pPr>
            <a:endParaRPr lang="en-US" sz="292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just">
              <a:lnSpc>
                <a:spcPts val="3486"/>
              </a:lnSpc>
            </a:pPr>
            <a:endParaRPr lang="en-US" sz="292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750" y="-54350"/>
            <a:ext cx="18419398" cy="10341348"/>
            <a:chOff x="0" y="0"/>
            <a:chExt cx="24559197" cy="13788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9261" cy="13788517"/>
            </a:xfrm>
            <a:custGeom>
              <a:avLst/>
              <a:gdLst/>
              <a:ahLst/>
              <a:cxnLst/>
              <a:rect l="l" t="t" r="r" b="b"/>
              <a:pathLst>
                <a:path w="24559261" h="13788517">
                  <a:moveTo>
                    <a:pt x="0" y="0"/>
                  </a:moveTo>
                  <a:lnTo>
                    <a:pt x="24559261" y="0"/>
                  </a:lnTo>
                  <a:lnTo>
                    <a:pt x="24559261" y="13788517"/>
                  </a:lnTo>
                  <a:lnTo>
                    <a:pt x="0" y="1378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56" r="-18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33776" y="459424"/>
            <a:ext cx="17240345" cy="9313831"/>
            <a:chOff x="0" y="0"/>
            <a:chExt cx="22987127" cy="124184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87127" cy="12418314"/>
            </a:xfrm>
            <a:custGeom>
              <a:avLst/>
              <a:gdLst/>
              <a:ahLst/>
              <a:cxnLst/>
              <a:rect l="l" t="t" r="r" b="b"/>
              <a:pathLst>
                <a:path w="22987127" h="12418314">
                  <a:moveTo>
                    <a:pt x="0" y="2069719"/>
                  </a:moveTo>
                  <a:cubicBezTo>
                    <a:pt x="0" y="926719"/>
                    <a:pt x="926719" y="0"/>
                    <a:pt x="2069719" y="0"/>
                  </a:cubicBezTo>
                  <a:lnTo>
                    <a:pt x="20917408" y="0"/>
                  </a:lnTo>
                  <a:cubicBezTo>
                    <a:pt x="22060536" y="0"/>
                    <a:pt x="22987127" y="926719"/>
                    <a:pt x="22987127" y="2069719"/>
                  </a:cubicBezTo>
                  <a:lnTo>
                    <a:pt x="22987127" y="10348595"/>
                  </a:lnTo>
                  <a:cubicBezTo>
                    <a:pt x="22987127" y="11491722"/>
                    <a:pt x="22060408" y="12418314"/>
                    <a:pt x="20917408" y="12418314"/>
                  </a:cubicBezTo>
                  <a:lnTo>
                    <a:pt x="2069719" y="12418314"/>
                  </a:lnTo>
                  <a:cubicBezTo>
                    <a:pt x="926719" y="12418441"/>
                    <a:pt x="0" y="11491722"/>
                    <a:pt x="0" y="1034859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77500" y="240812"/>
            <a:ext cx="1352360" cy="1352359"/>
            <a:chOff x="0" y="0"/>
            <a:chExt cx="1803146" cy="18031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3146" cy="1803146"/>
            </a:xfrm>
            <a:custGeom>
              <a:avLst/>
              <a:gdLst/>
              <a:ahLst/>
              <a:cxnLst/>
              <a:rect l="l" t="t" r="r" b="b"/>
              <a:pathLst>
                <a:path w="1803146" h="1803146">
                  <a:moveTo>
                    <a:pt x="0" y="901573"/>
                  </a:moveTo>
                  <a:cubicBezTo>
                    <a:pt x="0" y="403606"/>
                    <a:pt x="403606" y="0"/>
                    <a:pt x="901573" y="0"/>
                  </a:cubicBezTo>
                  <a:cubicBezTo>
                    <a:pt x="1399540" y="0"/>
                    <a:pt x="1803146" y="403606"/>
                    <a:pt x="1803146" y="901573"/>
                  </a:cubicBezTo>
                  <a:cubicBezTo>
                    <a:pt x="1803146" y="1399540"/>
                    <a:pt x="1399540" y="1803146"/>
                    <a:pt x="901573" y="1803146"/>
                  </a:cubicBezTo>
                  <a:cubicBezTo>
                    <a:pt x="403606" y="1803146"/>
                    <a:pt x="0" y="1399540"/>
                    <a:pt x="0" y="901573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5399990">
            <a:off x="13671676" y="-4941184"/>
            <a:ext cx="4607142" cy="7433252"/>
            <a:chOff x="0" y="0"/>
            <a:chExt cx="6142856" cy="9911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95000" y="9350304"/>
            <a:ext cx="940213" cy="940213"/>
            <a:chOff x="0" y="0"/>
            <a:chExt cx="1253617" cy="12536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3617" cy="1253617"/>
            </a:xfrm>
            <a:custGeom>
              <a:avLst/>
              <a:gdLst/>
              <a:ahLst/>
              <a:cxnLst/>
              <a:rect l="l" t="t" r="r" b="b"/>
              <a:pathLst>
                <a:path w="1253617" h="1253617">
                  <a:moveTo>
                    <a:pt x="0" y="626745"/>
                  </a:moveTo>
                  <a:cubicBezTo>
                    <a:pt x="0" y="280670"/>
                    <a:pt x="280670" y="0"/>
                    <a:pt x="626745" y="0"/>
                  </a:cubicBezTo>
                  <a:cubicBezTo>
                    <a:pt x="972820" y="0"/>
                    <a:pt x="1253617" y="280670"/>
                    <a:pt x="1253617" y="626745"/>
                  </a:cubicBezTo>
                  <a:cubicBezTo>
                    <a:pt x="1253617" y="972820"/>
                    <a:pt x="972947" y="1253617"/>
                    <a:pt x="626745" y="1253617"/>
                  </a:cubicBezTo>
                  <a:cubicBezTo>
                    <a:pt x="280543" y="1253617"/>
                    <a:pt x="0" y="972947"/>
                    <a:pt x="0" y="626745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5399990">
            <a:off x="165226" y="7794966"/>
            <a:ext cx="4607142" cy="7433252"/>
            <a:chOff x="0" y="0"/>
            <a:chExt cx="6142856" cy="9911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1050449"/>
            <a:ext cx="15225150" cy="3969767"/>
            <a:chOff x="0" y="0"/>
            <a:chExt cx="20300200" cy="52930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00200" cy="5293023"/>
            </a:xfrm>
            <a:custGeom>
              <a:avLst/>
              <a:gdLst/>
              <a:ahLst/>
              <a:cxnLst/>
              <a:rect l="l" t="t" r="r" b="b"/>
              <a:pathLst>
                <a:path w="20300200" h="5293023">
                  <a:moveTo>
                    <a:pt x="0" y="0"/>
                  </a:moveTo>
                  <a:lnTo>
                    <a:pt x="20300200" y="0"/>
                  </a:lnTo>
                  <a:lnTo>
                    <a:pt x="20300200" y="5293023"/>
                  </a:lnTo>
                  <a:lnTo>
                    <a:pt x="0" y="52930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300200" cy="53215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3333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Proposed Hypothesis</a:t>
              </a:r>
            </a:p>
            <a:p>
              <a:pPr algn="l">
                <a:lnSpc>
                  <a:spcPts val="7200"/>
                </a:lnSpc>
              </a:pPr>
              <a:endParaRPr lang="en-US" sz="6000" b="1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pPr algn="l">
                <a:lnSpc>
                  <a:spcPts val="7200"/>
                </a:lnSpc>
              </a:pPr>
              <a:endParaRPr lang="en-US" sz="6000" b="1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pPr algn="l">
                <a:lnSpc>
                  <a:spcPts val="7200"/>
                </a:lnSpc>
              </a:pPr>
              <a:endParaRPr lang="en-US" sz="6000" b="1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08765" y="2658409"/>
            <a:ext cx="10176545" cy="753847"/>
            <a:chOff x="0" y="0"/>
            <a:chExt cx="13568727" cy="10051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568727" cy="1005130"/>
            </a:xfrm>
            <a:custGeom>
              <a:avLst/>
              <a:gdLst/>
              <a:ahLst/>
              <a:cxnLst/>
              <a:rect l="l" t="t" r="r" b="b"/>
              <a:pathLst>
                <a:path w="13568727" h="1005130">
                  <a:moveTo>
                    <a:pt x="0" y="0"/>
                  </a:moveTo>
                  <a:lnTo>
                    <a:pt x="13568727" y="0"/>
                  </a:lnTo>
                  <a:lnTo>
                    <a:pt x="13568727" y="1005130"/>
                  </a:lnTo>
                  <a:lnTo>
                    <a:pt x="0" y="10051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3568727" cy="10146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89"/>
                </a:lnSpc>
              </a:pPr>
              <a:r>
                <a:rPr lang="en-US" sz="3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Hypothesis Statement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30162" y="3632519"/>
            <a:ext cx="14845085" cy="328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5" lvl="1" indent="-280673" algn="just">
              <a:lnSpc>
                <a:spcPts val="3094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Integrating CycleGAN (pixel-level style transfer) with YOLOv8 (self-training) will significantly improve detection robustness in unseen environments.</a:t>
            </a:r>
          </a:p>
          <a:p>
            <a:pPr algn="just">
              <a:lnSpc>
                <a:spcPts val="3094"/>
              </a:lnSpc>
            </a:pPr>
            <a:endParaRPr lang="en-US" sz="26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just">
              <a:lnSpc>
                <a:spcPts val="3689"/>
              </a:lnSpc>
            </a:pPr>
            <a:r>
              <a:rPr lang="en-US" sz="3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</a:t>
            </a:r>
            <a:r>
              <a:rPr lang="en-US" sz="31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Core Components</a:t>
            </a:r>
          </a:p>
          <a:p>
            <a:pPr algn="just">
              <a:lnSpc>
                <a:spcPts val="3689"/>
              </a:lnSpc>
            </a:pPr>
            <a:endParaRPr lang="en-US" sz="31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61345" lvl="1" indent="-280673" algn="just">
              <a:lnSpc>
                <a:spcPts val="3094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CycleGAN → aligns visual style .</a:t>
            </a:r>
          </a:p>
          <a:p>
            <a:pPr marL="561345" lvl="1" indent="-280673" algn="just">
              <a:lnSpc>
                <a:spcPts val="3094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YOLOv8 → efficient real-time detection</a:t>
            </a:r>
          </a:p>
          <a:p>
            <a:pPr algn="just">
              <a:lnSpc>
                <a:spcPts val="3094"/>
              </a:lnSpc>
            </a:pPr>
            <a:endParaRPr lang="en-US" sz="26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750" y="-54350"/>
            <a:ext cx="18419398" cy="10341348"/>
            <a:chOff x="0" y="0"/>
            <a:chExt cx="24559197" cy="13788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9261" cy="13788517"/>
            </a:xfrm>
            <a:custGeom>
              <a:avLst/>
              <a:gdLst/>
              <a:ahLst/>
              <a:cxnLst/>
              <a:rect l="l" t="t" r="r" b="b"/>
              <a:pathLst>
                <a:path w="24559261" h="13788517">
                  <a:moveTo>
                    <a:pt x="0" y="0"/>
                  </a:moveTo>
                  <a:lnTo>
                    <a:pt x="24559261" y="0"/>
                  </a:lnTo>
                  <a:lnTo>
                    <a:pt x="24559261" y="13788517"/>
                  </a:lnTo>
                  <a:lnTo>
                    <a:pt x="0" y="1378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56" r="-18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33776" y="459424"/>
            <a:ext cx="17240345" cy="9313831"/>
            <a:chOff x="0" y="0"/>
            <a:chExt cx="22987127" cy="124184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87127" cy="12418314"/>
            </a:xfrm>
            <a:custGeom>
              <a:avLst/>
              <a:gdLst/>
              <a:ahLst/>
              <a:cxnLst/>
              <a:rect l="l" t="t" r="r" b="b"/>
              <a:pathLst>
                <a:path w="22987127" h="12418314">
                  <a:moveTo>
                    <a:pt x="0" y="2069719"/>
                  </a:moveTo>
                  <a:cubicBezTo>
                    <a:pt x="0" y="926719"/>
                    <a:pt x="926719" y="0"/>
                    <a:pt x="2069719" y="0"/>
                  </a:cubicBezTo>
                  <a:lnTo>
                    <a:pt x="20917408" y="0"/>
                  </a:lnTo>
                  <a:cubicBezTo>
                    <a:pt x="22060536" y="0"/>
                    <a:pt x="22987127" y="926719"/>
                    <a:pt x="22987127" y="2069719"/>
                  </a:cubicBezTo>
                  <a:lnTo>
                    <a:pt x="22987127" y="10348595"/>
                  </a:lnTo>
                  <a:cubicBezTo>
                    <a:pt x="22987127" y="11491722"/>
                    <a:pt x="22060408" y="12418314"/>
                    <a:pt x="20917408" y="12418314"/>
                  </a:cubicBezTo>
                  <a:lnTo>
                    <a:pt x="2069719" y="12418314"/>
                  </a:lnTo>
                  <a:cubicBezTo>
                    <a:pt x="926719" y="12418441"/>
                    <a:pt x="0" y="11491722"/>
                    <a:pt x="0" y="1034859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77500" y="240812"/>
            <a:ext cx="1352360" cy="1352359"/>
            <a:chOff x="0" y="0"/>
            <a:chExt cx="1803146" cy="18031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3146" cy="1803146"/>
            </a:xfrm>
            <a:custGeom>
              <a:avLst/>
              <a:gdLst/>
              <a:ahLst/>
              <a:cxnLst/>
              <a:rect l="l" t="t" r="r" b="b"/>
              <a:pathLst>
                <a:path w="1803146" h="1803146">
                  <a:moveTo>
                    <a:pt x="0" y="901573"/>
                  </a:moveTo>
                  <a:cubicBezTo>
                    <a:pt x="0" y="403606"/>
                    <a:pt x="403606" y="0"/>
                    <a:pt x="901573" y="0"/>
                  </a:cubicBezTo>
                  <a:cubicBezTo>
                    <a:pt x="1399540" y="0"/>
                    <a:pt x="1803146" y="403606"/>
                    <a:pt x="1803146" y="901573"/>
                  </a:cubicBezTo>
                  <a:cubicBezTo>
                    <a:pt x="1803146" y="1399540"/>
                    <a:pt x="1399540" y="1803146"/>
                    <a:pt x="901573" y="1803146"/>
                  </a:cubicBezTo>
                  <a:cubicBezTo>
                    <a:pt x="403606" y="1803146"/>
                    <a:pt x="0" y="1399540"/>
                    <a:pt x="0" y="901573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5399990">
            <a:off x="13671676" y="-4941184"/>
            <a:ext cx="4607142" cy="7433252"/>
            <a:chOff x="0" y="0"/>
            <a:chExt cx="6142856" cy="9911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95000" y="9350304"/>
            <a:ext cx="940213" cy="940213"/>
            <a:chOff x="0" y="0"/>
            <a:chExt cx="1253617" cy="12536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3617" cy="1253617"/>
            </a:xfrm>
            <a:custGeom>
              <a:avLst/>
              <a:gdLst/>
              <a:ahLst/>
              <a:cxnLst/>
              <a:rect l="l" t="t" r="r" b="b"/>
              <a:pathLst>
                <a:path w="1253617" h="1253617">
                  <a:moveTo>
                    <a:pt x="0" y="626745"/>
                  </a:moveTo>
                  <a:cubicBezTo>
                    <a:pt x="0" y="280670"/>
                    <a:pt x="280670" y="0"/>
                    <a:pt x="626745" y="0"/>
                  </a:cubicBezTo>
                  <a:cubicBezTo>
                    <a:pt x="972820" y="0"/>
                    <a:pt x="1253617" y="280670"/>
                    <a:pt x="1253617" y="626745"/>
                  </a:cubicBezTo>
                  <a:cubicBezTo>
                    <a:pt x="1253617" y="972820"/>
                    <a:pt x="972947" y="1253617"/>
                    <a:pt x="626745" y="1253617"/>
                  </a:cubicBezTo>
                  <a:cubicBezTo>
                    <a:pt x="280543" y="1253617"/>
                    <a:pt x="0" y="972947"/>
                    <a:pt x="0" y="626745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5399990">
            <a:off x="165226" y="7794966"/>
            <a:ext cx="4607142" cy="7433252"/>
            <a:chOff x="0" y="0"/>
            <a:chExt cx="6142856" cy="9911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1050449"/>
            <a:ext cx="15225150" cy="1226567"/>
            <a:chOff x="0" y="0"/>
            <a:chExt cx="20300200" cy="16354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00200" cy="1635423"/>
            </a:xfrm>
            <a:custGeom>
              <a:avLst/>
              <a:gdLst/>
              <a:ahLst/>
              <a:cxnLst/>
              <a:rect l="l" t="t" r="r" b="b"/>
              <a:pathLst>
                <a:path w="20300200" h="1635423">
                  <a:moveTo>
                    <a:pt x="0" y="0"/>
                  </a:moveTo>
                  <a:lnTo>
                    <a:pt x="20300200" y="0"/>
                  </a:lnTo>
                  <a:lnTo>
                    <a:pt x="20300200" y="1635423"/>
                  </a:lnTo>
                  <a:lnTo>
                    <a:pt x="0" y="1635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300200" cy="1663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3333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DATASET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08765" y="2277016"/>
            <a:ext cx="10176545" cy="753847"/>
            <a:chOff x="0" y="0"/>
            <a:chExt cx="13568727" cy="10051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568727" cy="1005130"/>
            </a:xfrm>
            <a:custGeom>
              <a:avLst/>
              <a:gdLst/>
              <a:ahLst/>
              <a:cxnLst/>
              <a:rect l="l" t="t" r="r" b="b"/>
              <a:pathLst>
                <a:path w="13568727" h="1005130">
                  <a:moveTo>
                    <a:pt x="0" y="0"/>
                  </a:moveTo>
                  <a:lnTo>
                    <a:pt x="13568727" y="0"/>
                  </a:lnTo>
                  <a:lnTo>
                    <a:pt x="13568727" y="1005130"/>
                  </a:lnTo>
                  <a:lnTo>
                    <a:pt x="0" y="10051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3568727" cy="10241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84"/>
                </a:lnSpc>
              </a:pPr>
              <a:r>
                <a:rPr lang="en-US" sz="3600" b="1">
                  <a:solidFill>
                    <a:srgbClr val="FECA5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</a:t>
              </a:r>
              <a:r>
                <a:rPr lang="en-US" sz="3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Dataset Sources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08765" y="3288682"/>
            <a:ext cx="15452429" cy="526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65"/>
              </a:lnSpc>
            </a:pPr>
            <a:r>
              <a:rPr lang="en-US" sz="3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study employs two primary datasets to highlight the domain gap in waste detection. </a:t>
            </a:r>
          </a:p>
          <a:p>
            <a:pPr algn="just">
              <a:lnSpc>
                <a:spcPts val="4165"/>
              </a:lnSpc>
            </a:pPr>
            <a:r>
              <a:rPr lang="en-US" sz="3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TACO    dataset : It</a:t>
            </a:r>
            <a:r>
              <a:rPr lang="en-US" sz="3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contains approximately 1,500 images with 4,784 annotations across 60 waste categories, representing outdoor and street environments. It is used as the source domain for pixel-level adaptation.</a:t>
            </a:r>
          </a:p>
          <a:p>
            <a:pPr algn="just">
              <a:lnSpc>
                <a:spcPts val="4165"/>
              </a:lnSpc>
            </a:pPr>
            <a:r>
              <a:rPr lang="en-US" sz="3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just">
              <a:lnSpc>
                <a:spcPts val="4165"/>
              </a:lnSpc>
            </a:pPr>
            <a:r>
              <a:rPr lang="en-US" sz="3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ZeroWaste dataset :</a:t>
            </a:r>
            <a:r>
              <a:rPr lang="en-US" sz="3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provides around 4,600 frames from industrial conveyor belt settings, where waste items are cluttered and overlapping. It serves as the target domain for label-level adaptation.</a:t>
            </a:r>
          </a:p>
          <a:p>
            <a:pPr algn="just">
              <a:lnSpc>
                <a:spcPts val="4165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750" y="-54350"/>
            <a:ext cx="18419398" cy="10341348"/>
            <a:chOff x="0" y="0"/>
            <a:chExt cx="24559197" cy="13788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9261" cy="13788517"/>
            </a:xfrm>
            <a:custGeom>
              <a:avLst/>
              <a:gdLst/>
              <a:ahLst/>
              <a:cxnLst/>
              <a:rect l="l" t="t" r="r" b="b"/>
              <a:pathLst>
                <a:path w="24559261" h="13788517">
                  <a:moveTo>
                    <a:pt x="0" y="0"/>
                  </a:moveTo>
                  <a:lnTo>
                    <a:pt x="24559261" y="0"/>
                  </a:lnTo>
                  <a:lnTo>
                    <a:pt x="24559261" y="13788517"/>
                  </a:lnTo>
                  <a:lnTo>
                    <a:pt x="0" y="1378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56" r="-18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33776" y="459424"/>
            <a:ext cx="17240345" cy="9313831"/>
            <a:chOff x="0" y="0"/>
            <a:chExt cx="22987127" cy="124184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87127" cy="12418314"/>
            </a:xfrm>
            <a:custGeom>
              <a:avLst/>
              <a:gdLst/>
              <a:ahLst/>
              <a:cxnLst/>
              <a:rect l="l" t="t" r="r" b="b"/>
              <a:pathLst>
                <a:path w="22987127" h="12418314">
                  <a:moveTo>
                    <a:pt x="0" y="2069719"/>
                  </a:moveTo>
                  <a:cubicBezTo>
                    <a:pt x="0" y="926719"/>
                    <a:pt x="926719" y="0"/>
                    <a:pt x="2069719" y="0"/>
                  </a:cubicBezTo>
                  <a:lnTo>
                    <a:pt x="20917408" y="0"/>
                  </a:lnTo>
                  <a:cubicBezTo>
                    <a:pt x="22060536" y="0"/>
                    <a:pt x="22987127" y="926719"/>
                    <a:pt x="22987127" y="2069719"/>
                  </a:cubicBezTo>
                  <a:lnTo>
                    <a:pt x="22987127" y="10348595"/>
                  </a:lnTo>
                  <a:cubicBezTo>
                    <a:pt x="22987127" y="11491722"/>
                    <a:pt x="22060408" y="12418314"/>
                    <a:pt x="20917408" y="12418314"/>
                  </a:cubicBezTo>
                  <a:lnTo>
                    <a:pt x="2069719" y="12418314"/>
                  </a:lnTo>
                  <a:cubicBezTo>
                    <a:pt x="926719" y="12418441"/>
                    <a:pt x="0" y="11491722"/>
                    <a:pt x="0" y="1034859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77500" y="240812"/>
            <a:ext cx="1352360" cy="1352359"/>
            <a:chOff x="0" y="0"/>
            <a:chExt cx="1803146" cy="18031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3146" cy="1803146"/>
            </a:xfrm>
            <a:custGeom>
              <a:avLst/>
              <a:gdLst/>
              <a:ahLst/>
              <a:cxnLst/>
              <a:rect l="l" t="t" r="r" b="b"/>
              <a:pathLst>
                <a:path w="1803146" h="1803146">
                  <a:moveTo>
                    <a:pt x="0" y="901573"/>
                  </a:moveTo>
                  <a:cubicBezTo>
                    <a:pt x="0" y="403606"/>
                    <a:pt x="403606" y="0"/>
                    <a:pt x="901573" y="0"/>
                  </a:cubicBezTo>
                  <a:cubicBezTo>
                    <a:pt x="1399540" y="0"/>
                    <a:pt x="1803146" y="403606"/>
                    <a:pt x="1803146" y="901573"/>
                  </a:cubicBezTo>
                  <a:cubicBezTo>
                    <a:pt x="1803146" y="1399540"/>
                    <a:pt x="1399540" y="1803146"/>
                    <a:pt x="901573" y="1803146"/>
                  </a:cubicBezTo>
                  <a:cubicBezTo>
                    <a:pt x="403606" y="1803146"/>
                    <a:pt x="0" y="1399540"/>
                    <a:pt x="0" y="901573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5399990">
            <a:off x="13671676" y="-4941184"/>
            <a:ext cx="4607142" cy="7433252"/>
            <a:chOff x="0" y="0"/>
            <a:chExt cx="6142856" cy="9911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95000" y="9350304"/>
            <a:ext cx="940213" cy="940213"/>
            <a:chOff x="0" y="0"/>
            <a:chExt cx="1253617" cy="12536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3617" cy="1253617"/>
            </a:xfrm>
            <a:custGeom>
              <a:avLst/>
              <a:gdLst/>
              <a:ahLst/>
              <a:cxnLst/>
              <a:rect l="l" t="t" r="r" b="b"/>
              <a:pathLst>
                <a:path w="1253617" h="1253617">
                  <a:moveTo>
                    <a:pt x="0" y="626745"/>
                  </a:moveTo>
                  <a:cubicBezTo>
                    <a:pt x="0" y="280670"/>
                    <a:pt x="280670" y="0"/>
                    <a:pt x="626745" y="0"/>
                  </a:cubicBezTo>
                  <a:cubicBezTo>
                    <a:pt x="972820" y="0"/>
                    <a:pt x="1253617" y="280670"/>
                    <a:pt x="1253617" y="626745"/>
                  </a:cubicBezTo>
                  <a:cubicBezTo>
                    <a:pt x="1253617" y="972820"/>
                    <a:pt x="972947" y="1253617"/>
                    <a:pt x="626745" y="1253617"/>
                  </a:cubicBezTo>
                  <a:cubicBezTo>
                    <a:pt x="280543" y="1253617"/>
                    <a:pt x="0" y="972947"/>
                    <a:pt x="0" y="626745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5399990">
            <a:off x="165226" y="7794966"/>
            <a:ext cx="4607142" cy="7433252"/>
            <a:chOff x="0" y="0"/>
            <a:chExt cx="6142856" cy="9911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0097" y="465740"/>
            <a:ext cx="15225150" cy="1226567"/>
            <a:chOff x="0" y="0"/>
            <a:chExt cx="20300200" cy="16354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00200" cy="1635423"/>
            </a:xfrm>
            <a:custGeom>
              <a:avLst/>
              <a:gdLst/>
              <a:ahLst/>
              <a:cxnLst/>
              <a:rect l="l" t="t" r="r" b="b"/>
              <a:pathLst>
                <a:path w="20300200" h="1635423">
                  <a:moveTo>
                    <a:pt x="0" y="0"/>
                  </a:moveTo>
                  <a:lnTo>
                    <a:pt x="20300200" y="0"/>
                  </a:lnTo>
                  <a:lnTo>
                    <a:pt x="20300200" y="1635423"/>
                  </a:lnTo>
                  <a:lnTo>
                    <a:pt x="0" y="1635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300200" cy="1663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3333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 Methodology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08765" y="2277016"/>
            <a:ext cx="10176545" cy="753847"/>
            <a:chOff x="0" y="0"/>
            <a:chExt cx="13568727" cy="10051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568727" cy="1005130"/>
            </a:xfrm>
            <a:custGeom>
              <a:avLst/>
              <a:gdLst/>
              <a:ahLst/>
              <a:cxnLst/>
              <a:rect l="l" t="t" r="r" b="b"/>
              <a:pathLst>
                <a:path w="13568727" h="1005130">
                  <a:moveTo>
                    <a:pt x="0" y="0"/>
                  </a:moveTo>
                  <a:lnTo>
                    <a:pt x="13568727" y="0"/>
                  </a:lnTo>
                  <a:lnTo>
                    <a:pt x="13568727" y="1005130"/>
                  </a:lnTo>
                  <a:lnTo>
                    <a:pt x="0" y="10051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3568727" cy="10241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84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6497037" y="1298945"/>
            <a:ext cx="6197088" cy="8293340"/>
          </a:xfrm>
          <a:custGeom>
            <a:avLst/>
            <a:gdLst/>
            <a:ahLst/>
            <a:cxnLst/>
            <a:rect l="l" t="t" r="r" b="b"/>
            <a:pathLst>
              <a:path w="6197088" h="8293340">
                <a:moveTo>
                  <a:pt x="0" y="0"/>
                </a:moveTo>
                <a:lnTo>
                  <a:pt x="6197088" y="0"/>
                </a:lnTo>
                <a:lnTo>
                  <a:pt x="6197088" y="8293340"/>
                </a:lnTo>
                <a:lnTo>
                  <a:pt x="0" y="8293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981" b="-198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750" y="-54350"/>
            <a:ext cx="18419398" cy="10341348"/>
            <a:chOff x="0" y="0"/>
            <a:chExt cx="24559197" cy="13788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9261" cy="13788517"/>
            </a:xfrm>
            <a:custGeom>
              <a:avLst/>
              <a:gdLst/>
              <a:ahLst/>
              <a:cxnLst/>
              <a:rect l="l" t="t" r="r" b="b"/>
              <a:pathLst>
                <a:path w="24559261" h="13788517">
                  <a:moveTo>
                    <a:pt x="0" y="0"/>
                  </a:moveTo>
                  <a:lnTo>
                    <a:pt x="24559261" y="0"/>
                  </a:lnTo>
                  <a:lnTo>
                    <a:pt x="24559261" y="13788517"/>
                  </a:lnTo>
                  <a:lnTo>
                    <a:pt x="0" y="1378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56" r="-18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33776" y="459424"/>
            <a:ext cx="17240345" cy="9313831"/>
            <a:chOff x="0" y="0"/>
            <a:chExt cx="22987127" cy="124184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87127" cy="12418314"/>
            </a:xfrm>
            <a:custGeom>
              <a:avLst/>
              <a:gdLst/>
              <a:ahLst/>
              <a:cxnLst/>
              <a:rect l="l" t="t" r="r" b="b"/>
              <a:pathLst>
                <a:path w="22987127" h="12418314">
                  <a:moveTo>
                    <a:pt x="0" y="2069719"/>
                  </a:moveTo>
                  <a:cubicBezTo>
                    <a:pt x="0" y="926719"/>
                    <a:pt x="926719" y="0"/>
                    <a:pt x="2069719" y="0"/>
                  </a:cubicBezTo>
                  <a:lnTo>
                    <a:pt x="20917408" y="0"/>
                  </a:lnTo>
                  <a:cubicBezTo>
                    <a:pt x="22060536" y="0"/>
                    <a:pt x="22987127" y="926719"/>
                    <a:pt x="22987127" y="2069719"/>
                  </a:cubicBezTo>
                  <a:lnTo>
                    <a:pt x="22987127" y="10348595"/>
                  </a:lnTo>
                  <a:cubicBezTo>
                    <a:pt x="22987127" y="11491722"/>
                    <a:pt x="22060408" y="12418314"/>
                    <a:pt x="20917408" y="12418314"/>
                  </a:cubicBezTo>
                  <a:lnTo>
                    <a:pt x="2069719" y="12418314"/>
                  </a:lnTo>
                  <a:cubicBezTo>
                    <a:pt x="926719" y="12418441"/>
                    <a:pt x="0" y="11491722"/>
                    <a:pt x="0" y="1034859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77500" y="240812"/>
            <a:ext cx="1352360" cy="1352359"/>
            <a:chOff x="0" y="0"/>
            <a:chExt cx="1803146" cy="18031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3146" cy="1803146"/>
            </a:xfrm>
            <a:custGeom>
              <a:avLst/>
              <a:gdLst/>
              <a:ahLst/>
              <a:cxnLst/>
              <a:rect l="l" t="t" r="r" b="b"/>
              <a:pathLst>
                <a:path w="1803146" h="1803146">
                  <a:moveTo>
                    <a:pt x="0" y="901573"/>
                  </a:moveTo>
                  <a:cubicBezTo>
                    <a:pt x="0" y="403606"/>
                    <a:pt x="403606" y="0"/>
                    <a:pt x="901573" y="0"/>
                  </a:cubicBezTo>
                  <a:cubicBezTo>
                    <a:pt x="1399540" y="0"/>
                    <a:pt x="1803146" y="403606"/>
                    <a:pt x="1803146" y="901573"/>
                  </a:cubicBezTo>
                  <a:cubicBezTo>
                    <a:pt x="1803146" y="1399540"/>
                    <a:pt x="1399540" y="1803146"/>
                    <a:pt x="901573" y="1803146"/>
                  </a:cubicBezTo>
                  <a:cubicBezTo>
                    <a:pt x="403606" y="1803146"/>
                    <a:pt x="0" y="1399540"/>
                    <a:pt x="0" y="901573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5399990">
            <a:off x="13671676" y="-4941184"/>
            <a:ext cx="4607142" cy="7433252"/>
            <a:chOff x="0" y="0"/>
            <a:chExt cx="6142856" cy="9911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95000" y="9350304"/>
            <a:ext cx="940213" cy="940213"/>
            <a:chOff x="0" y="0"/>
            <a:chExt cx="1253617" cy="12536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3617" cy="1253617"/>
            </a:xfrm>
            <a:custGeom>
              <a:avLst/>
              <a:gdLst/>
              <a:ahLst/>
              <a:cxnLst/>
              <a:rect l="l" t="t" r="r" b="b"/>
              <a:pathLst>
                <a:path w="1253617" h="1253617">
                  <a:moveTo>
                    <a:pt x="0" y="626745"/>
                  </a:moveTo>
                  <a:cubicBezTo>
                    <a:pt x="0" y="280670"/>
                    <a:pt x="280670" y="0"/>
                    <a:pt x="626745" y="0"/>
                  </a:cubicBezTo>
                  <a:cubicBezTo>
                    <a:pt x="972820" y="0"/>
                    <a:pt x="1253617" y="280670"/>
                    <a:pt x="1253617" y="626745"/>
                  </a:cubicBezTo>
                  <a:cubicBezTo>
                    <a:pt x="1253617" y="972820"/>
                    <a:pt x="972947" y="1253617"/>
                    <a:pt x="626745" y="1253617"/>
                  </a:cubicBezTo>
                  <a:cubicBezTo>
                    <a:pt x="280543" y="1253617"/>
                    <a:pt x="0" y="972947"/>
                    <a:pt x="0" y="626745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5399990">
            <a:off x="165226" y="7794966"/>
            <a:ext cx="4607142" cy="7433252"/>
            <a:chOff x="0" y="0"/>
            <a:chExt cx="6142856" cy="9911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1050449"/>
            <a:ext cx="15225150" cy="1226567"/>
            <a:chOff x="0" y="0"/>
            <a:chExt cx="20300200" cy="16354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00200" cy="1635423"/>
            </a:xfrm>
            <a:custGeom>
              <a:avLst/>
              <a:gdLst/>
              <a:ahLst/>
              <a:cxnLst/>
              <a:rect l="l" t="t" r="r" b="b"/>
              <a:pathLst>
                <a:path w="20300200" h="1635423">
                  <a:moveTo>
                    <a:pt x="0" y="0"/>
                  </a:moveTo>
                  <a:lnTo>
                    <a:pt x="20300200" y="0"/>
                  </a:lnTo>
                  <a:lnTo>
                    <a:pt x="20300200" y="1635423"/>
                  </a:lnTo>
                  <a:lnTo>
                    <a:pt x="0" y="1635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300200" cy="1663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3333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Contribution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08765" y="2277016"/>
            <a:ext cx="10176545" cy="753847"/>
            <a:chOff x="0" y="0"/>
            <a:chExt cx="13568727" cy="10051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568727" cy="1005130"/>
            </a:xfrm>
            <a:custGeom>
              <a:avLst/>
              <a:gdLst/>
              <a:ahLst/>
              <a:cxnLst/>
              <a:rect l="l" t="t" r="r" b="b"/>
              <a:pathLst>
                <a:path w="13568727" h="1005130">
                  <a:moveTo>
                    <a:pt x="0" y="0"/>
                  </a:moveTo>
                  <a:lnTo>
                    <a:pt x="13568727" y="0"/>
                  </a:lnTo>
                  <a:lnTo>
                    <a:pt x="13568727" y="1005130"/>
                  </a:lnTo>
                  <a:lnTo>
                    <a:pt x="0" y="10051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3568727" cy="10241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84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2644415"/>
            <a:ext cx="15968735" cy="404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just">
              <a:lnSpc>
                <a:spcPts val="357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Hybrid Framework:</a:t>
            </a: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First to combine CycleGAN (pixel-level style transfer) with YOLOv8 (label-level self-training) for waste detection.</a:t>
            </a:r>
          </a:p>
          <a:p>
            <a:pPr marL="647703" lvl="1" indent="-323852" algn="just">
              <a:lnSpc>
                <a:spcPts val="357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Domain Adaptation:</a:t>
            </a: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Addresses the domain gap between outdoor datasets (TACO) and industrial datasets (ZeroWaste).</a:t>
            </a:r>
          </a:p>
          <a:p>
            <a:pPr marL="647703" lvl="1" indent="-323852" algn="just">
              <a:lnSpc>
                <a:spcPts val="357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Automation</a:t>
            </a: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Reduces the need for manual labeling in new environments by leveraging synthetic data and pseudo-labels.</a:t>
            </a:r>
          </a:p>
          <a:p>
            <a:pPr marL="647703" lvl="1" indent="-323852" algn="just">
              <a:lnSpc>
                <a:spcPts val="357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Robustness</a:t>
            </a: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Produces a detection model that works across unseen, cluttered, real-world environments.</a:t>
            </a:r>
          </a:p>
          <a:p>
            <a:pPr algn="just">
              <a:lnSpc>
                <a:spcPts val="3570"/>
              </a:lnSpc>
            </a:pPr>
            <a:endParaRPr lang="en-US" sz="30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071" y="240812"/>
            <a:ext cx="18419398" cy="10341348"/>
            <a:chOff x="0" y="0"/>
            <a:chExt cx="24559197" cy="13788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9261" cy="13788517"/>
            </a:xfrm>
            <a:custGeom>
              <a:avLst/>
              <a:gdLst/>
              <a:ahLst/>
              <a:cxnLst/>
              <a:rect l="l" t="t" r="r" b="b"/>
              <a:pathLst>
                <a:path w="24559261" h="13788517">
                  <a:moveTo>
                    <a:pt x="0" y="0"/>
                  </a:moveTo>
                  <a:lnTo>
                    <a:pt x="24559261" y="0"/>
                  </a:lnTo>
                  <a:lnTo>
                    <a:pt x="24559261" y="13788517"/>
                  </a:lnTo>
                  <a:lnTo>
                    <a:pt x="0" y="1378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56" r="-18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33776" y="459424"/>
            <a:ext cx="17240345" cy="9313831"/>
            <a:chOff x="0" y="0"/>
            <a:chExt cx="22987127" cy="124184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87127" cy="12418314"/>
            </a:xfrm>
            <a:custGeom>
              <a:avLst/>
              <a:gdLst/>
              <a:ahLst/>
              <a:cxnLst/>
              <a:rect l="l" t="t" r="r" b="b"/>
              <a:pathLst>
                <a:path w="22987127" h="12418314">
                  <a:moveTo>
                    <a:pt x="0" y="2069719"/>
                  </a:moveTo>
                  <a:cubicBezTo>
                    <a:pt x="0" y="926719"/>
                    <a:pt x="926719" y="0"/>
                    <a:pt x="2069719" y="0"/>
                  </a:cubicBezTo>
                  <a:lnTo>
                    <a:pt x="20917408" y="0"/>
                  </a:lnTo>
                  <a:cubicBezTo>
                    <a:pt x="22060536" y="0"/>
                    <a:pt x="22987127" y="926719"/>
                    <a:pt x="22987127" y="2069719"/>
                  </a:cubicBezTo>
                  <a:lnTo>
                    <a:pt x="22987127" y="10348595"/>
                  </a:lnTo>
                  <a:cubicBezTo>
                    <a:pt x="22987127" y="11491722"/>
                    <a:pt x="22060408" y="12418314"/>
                    <a:pt x="20917408" y="12418314"/>
                  </a:cubicBezTo>
                  <a:lnTo>
                    <a:pt x="2069719" y="12418314"/>
                  </a:lnTo>
                  <a:cubicBezTo>
                    <a:pt x="926719" y="12418441"/>
                    <a:pt x="0" y="11491722"/>
                    <a:pt x="0" y="1034859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77500" y="240812"/>
            <a:ext cx="1352360" cy="1352359"/>
            <a:chOff x="0" y="0"/>
            <a:chExt cx="1803146" cy="18031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3146" cy="1803146"/>
            </a:xfrm>
            <a:custGeom>
              <a:avLst/>
              <a:gdLst/>
              <a:ahLst/>
              <a:cxnLst/>
              <a:rect l="l" t="t" r="r" b="b"/>
              <a:pathLst>
                <a:path w="1803146" h="1803146">
                  <a:moveTo>
                    <a:pt x="0" y="901573"/>
                  </a:moveTo>
                  <a:cubicBezTo>
                    <a:pt x="0" y="403606"/>
                    <a:pt x="403606" y="0"/>
                    <a:pt x="901573" y="0"/>
                  </a:cubicBezTo>
                  <a:cubicBezTo>
                    <a:pt x="1399540" y="0"/>
                    <a:pt x="1803146" y="403606"/>
                    <a:pt x="1803146" y="901573"/>
                  </a:cubicBezTo>
                  <a:cubicBezTo>
                    <a:pt x="1803146" y="1399540"/>
                    <a:pt x="1399540" y="1803146"/>
                    <a:pt x="901573" y="1803146"/>
                  </a:cubicBezTo>
                  <a:cubicBezTo>
                    <a:pt x="403606" y="1803146"/>
                    <a:pt x="0" y="1399540"/>
                    <a:pt x="0" y="901573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5399990">
            <a:off x="13671676" y="-4941184"/>
            <a:ext cx="4607142" cy="7433252"/>
            <a:chOff x="0" y="0"/>
            <a:chExt cx="6142856" cy="9911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95000" y="9350304"/>
            <a:ext cx="940213" cy="940213"/>
            <a:chOff x="0" y="0"/>
            <a:chExt cx="1253617" cy="12536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3617" cy="1253617"/>
            </a:xfrm>
            <a:custGeom>
              <a:avLst/>
              <a:gdLst/>
              <a:ahLst/>
              <a:cxnLst/>
              <a:rect l="l" t="t" r="r" b="b"/>
              <a:pathLst>
                <a:path w="1253617" h="1253617">
                  <a:moveTo>
                    <a:pt x="0" y="626745"/>
                  </a:moveTo>
                  <a:cubicBezTo>
                    <a:pt x="0" y="280670"/>
                    <a:pt x="280670" y="0"/>
                    <a:pt x="626745" y="0"/>
                  </a:cubicBezTo>
                  <a:cubicBezTo>
                    <a:pt x="972820" y="0"/>
                    <a:pt x="1253617" y="280670"/>
                    <a:pt x="1253617" y="626745"/>
                  </a:cubicBezTo>
                  <a:cubicBezTo>
                    <a:pt x="1253617" y="972820"/>
                    <a:pt x="972947" y="1253617"/>
                    <a:pt x="626745" y="1253617"/>
                  </a:cubicBezTo>
                  <a:cubicBezTo>
                    <a:pt x="280543" y="1253617"/>
                    <a:pt x="0" y="972947"/>
                    <a:pt x="0" y="626745"/>
                  </a:cubicBezTo>
                  <a:close/>
                </a:path>
              </a:pathLst>
            </a:custGeom>
            <a:solidFill>
              <a:srgbClr val="FECA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5399990">
            <a:off x="165226" y="7794966"/>
            <a:ext cx="4607142" cy="7433252"/>
            <a:chOff x="0" y="0"/>
            <a:chExt cx="6142856" cy="9911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9175" y="1050449"/>
            <a:ext cx="15225150" cy="1226567"/>
            <a:chOff x="0" y="0"/>
            <a:chExt cx="20300200" cy="16354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00200" cy="1635423"/>
            </a:xfrm>
            <a:custGeom>
              <a:avLst/>
              <a:gdLst/>
              <a:ahLst/>
              <a:cxnLst/>
              <a:rect l="l" t="t" r="r" b="b"/>
              <a:pathLst>
                <a:path w="20300200" h="1635423">
                  <a:moveTo>
                    <a:pt x="0" y="0"/>
                  </a:moveTo>
                  <a:lnTo>
                    <a:pt x="20300200" y="0"/>
                  </a:lnTo>
                  <a:lnTo>
                    <a:pt x="20300200" y="1635423"/>
                  </a:lnTo>
                  <a:lnTo>
                    <a:pt x="0" y="1635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300200" cy="1663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3333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 Conclusion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461293" y="2452414"/>
            <a:ext cx="15564954" cy="464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8" lvl="1" indent="-367029" algn="just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Existing models (ResNet152, YOLOv7, YOLOv8) perform well in controlled datasets but fail under domain shift.</a:t>
            </a:r>
          </a:p>
          <a:p>
            <a:pPr marL="734058" lvl="1" indent="-367029" algn="just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study proposes a hybrid CycleGAN + YOLOv8 framework to overcome those limitations.</a:t>
            </a:r>
          </a:p>
          <a:p>
            <a:pPr marL="734058" lvl="1" indent="-367029" algn="just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By combining pixel-level style transfer with label-level self-training, the model achieves robust detection in unseen environments without manual labeling.</a:t>
            </a:r>
          </a:p>
          <a:p>
            <a:pPr marL="734058" lvl="1" indent="-367029" algn="just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approach demonstrates a pathway toward scalable, automated waste detection systems that can adapt to diverse real-world conditions.</a:t>
            </a:r>
          </a:p>
          <a:p>
            <a:pPr algn="just">
              <a:lnSpc>
                <a:spcPts val="407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7174"/>
            <a:ext cx="18419398" cy="10341348"/>
            <a:chOff x="0" y="0"/>
            <a:chExt cx="24559197" cy="13788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9261" cy="13788517"/>
            </a:xfrm>
            <a:custGeom>
              <a:avLst/>
              <a:gdLst/>
              <a:ahLst/>
              <a:cxnLst/>
              <a:rect l="l" t="t" r="r" b="b"/>
              <a:pathLst>
                <a:path w="24559261" h="13788517">
                  <a:moveTo>
                    <a:pt x="0" y="0"/>
                  </a:moveTo>
                  <a:lnTo>
                    <a:pt x="24559261" y="0"/>
                  </a:lnTo>
                  <a:lnTo>
                    <a:pt x="24559261" y="13788517"/>
                  </a:lnTo>
                  <a:lnTo>
                    <a:pt x="0" y="1378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56" r="-18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33776" y="459424"/>
            <a:ext cx="17240345" cy="9313831"/>
            <a:chOff x="0" y="0"/>
            <a:chExt cx="22987127" cy="124184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87127" cy="12418314"/>
            </a:xfrm>
            <a:custGeom>
              <a:avLst/>
              <a:gdLst/>
              <a:ahLst/>
              <a:cxnLst/>
              <a:rect l="l" t="t" r="r" b="b"/>
              <a:pathLst>
                <a:path w="22987127" h="12418314">
                  <a:moveTo>
                    <a:pt x="0" y="2069719"/>
                  </a:moveTo>
                  <a:cubicBezTo>
                    <a:pt x="0" y="926719"/>
                    <a:pt x="926719" y="0"/>
                    <a:pt x="2069719" y="0"/>
                  </a:cubicBezTo>
                  <a:lnTo>
                    <a:pt x="20917408" y="0"/>
                  </a:lnTo>
                  <a:cubicBezTo>
                    <a:pt x="22060536" y="0"/>
                    <a:pt x="22987127" y="926719"/>
                    <a:pt x="22987127" y="2069719"/>
                  </a:cubicBezTo>
                  <a:lnTo>
                    <a:pt x="22987127" y="10348595"/>
                  </a:lnTo>
                  <a:cubicBezTo>
                    <a:pt x="22987127" y="11491722"/>
                    <a:pt x="22060408" y="12418314"/>
                    <a:pt x="20917408" y="12418314"/>
                  </a:cubicBezTo>
                  <a:lnTo>
                    <a:pt x="2069719" y="12418314"/>
                  </a:lnTo>
                  <a:cubicBezTo>
                    <a:pt x="926719" y="12418441"/>
                    <a:pt x="0" y="11491722"/>
                    <a:pt x="0" y="1034859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399990">
            <a:off x="165226" y="7794966"/>
            <a:ext cx="4607142" cy="7433252"/>
            <a:chOff x="0" y="0"/>
            <a:chExt cx="6142856" cy="99110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5399990">
            <a:off x="14073345" y="-4601108"/>
            <a:ext cx="4607142" cy="7433252"/>
            <a:chOff x="0" y="0"/>
            <a:chExt cx="6142856" cy="9911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42863" cy="9910953"/>
            </a:xfrm>
            <a:custGeom>
              <a:avLst/>
              <a:gdLst/>
              <a:ahLst/>
              <a:cxnLst/>
              <a:rect l="l" t="t" r="r" b="b"/>
              <a:pathLst>
                <a:path w="6142863" h="9910953">
                  <a:moveTo>
                    <a:pt x="0" y="0"/>
                  </a:moveTo>
                  <a:lnTo>
                    <a:pt x="6142863" y="0"/>
                  </a:lnTo>
                  <a:lnTo>
                    <a:pt x="6142863" y="9910953"/>
                  </a:lnTo>
                  <a:lnTo>
                    <a:pt x="0" y="991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3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19175" y="1050449"/>
            <a:ext cx="15225150" cy="1226567"/>
            <a:chOff x="0" y="0"/>
            <a:chExt cx="20300200" cy="16354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00200" cy="1635423"/>
            </a:xfrm>
            <a:custGeom>
              <a:avLst/>
              <a:gdLst/>
              <a:ahLst/>
              <a:cxnLst/>
              <a:rect l="l" t="t" r="r" b="b"/>
              <a:pathLst>
                <a:path w="20300200" h="1635423">
                  <a:moveTo>
                    <a:pt x="0" y="0"/>
                  </a:moveTo>
                  <a:lnTo>
                    <a:pt x="20300200" y="0"/>
                  </a:lnTo>
                  <a:lnTo>
                    <a:pt x="20300200" y="1635423"/>
                  </a:lnTo>
                  <a:lnTo>
                    <a:pt x="0" y="1635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300200" cy="1663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3333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 Reference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16422" y="2161695"/>
            <a:ext cx="15975701" cy="4174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F. </a:t>
            </a:r>
            <a:r>
              <a:rPr lang="en-US" sz="33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Fotovvatikhah</a:t>
            </a:r>
            <a:r>
              <a:rPr lang="en-US" sz="33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I. </a:t>
            </a:r>
            <a:r>
              <a:rPr lang="en-US" sz="33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Ahmedy</a:t>
            </a:r>
            <a:r>
              <a:rPr lang="en-US" sz="33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R. M. Noor, and M. </a:t>
            </a:r>
            <a:r>
              <a:rPr lang="en-US" sz="33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U.Munir</a:t>
            </a:r>
            <a:r>
              <a:rPr lang="en-US" sz="33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“A systematic review of ai-based techniques for automated waste classification,” Sensors, vol. 25, no. 10,</a:t>
            </a:r>
          </a:p>
          <a:p>
            <a:pPr algn="just"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2025, </a:t>
            </a:r>
            <a:r>
              <a:rPr lang="en-US" sz="33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doi</a:t>
            </a:r>
            <a:r>
              <a:rPr lang="en-US" sz="33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10.3390/s25103181.</a:t>
            </a:r>
          </a:p>
          <a:p>
            <a:pPr algn="just">
              <a:lnSpc>
                <a:spcPts val="4079"/>
              </a:lnSpc>
            </a:pPr>
            <a:endParaRPr lang="en-US" sz="33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just"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Here is dataset link :</a:t>
            </a:r>
          </a:p>
          <a:p>
            <a:pPr algn="just">
              <a:lnSpc>
                <a:spcPts val="4079"/>
              </a:lnSpc>
            </a:pPr>
            <a:endParaRPr lang="en-US" sz="33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just"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 https://github.com/pedropro/TACO </a:t>
            </a:r>
          </a:p>
          <a:p>
            <a:pPr algn="just">
              <a:lnSpc>
                <a:spcPts val="407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 https://github.com/dbash/zerowaste 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750" y="-54350"/>
            <a:ext cx="18419398" cy="10341348"/>
            <a:chOff x="0" y="0"/>
            <a:chExt cx="24559197" cy="13788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9261" cy="13788517"/>
            </a:xfrm>
            <a:custGeom>
              <a:avLst/>
              <a:gdLst/>
              <a:ahLst/>
              <a:cxnLst/>
              <a:rect l="l" t="t" r="r" b="b"/>
              <a:pathLst>
                <a:path w="24559261" h="13788517">
                  <a:moveTo>
                    <a:pt x="0" y="0"/>
                  </a:moveTo>
                  <a:lnTo>
                    <a:pt x="24559261" y="0"/>
                  </a:lnTo>
                  <a:lnTo>
                    <a:pt x="24559261" y="13788517"/>
                  </a:lnTo>
                  <a:lnTo>
                    <a:pt x="0" y="1378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56" r="-18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33749" y="459400"/>
            <a:ext cx="17240345" cy="9313831"/>
            <a:chOff x="0" y="0"/>
            <a:chExt cx="22987127" cy="124184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87127" cy="12418314"/>
            </a:xfrm>
            <a:custGeom>
              <a:avLst/>
              <a:gdLst/>
              <a:ahLst/>
              <a:cxnLst/>
              <a:rect l="l" t="t" r="r" b="b"/>
              <a:pathLst>
                <a:path w="22987127" h="12418314">
                  <a:moveTo>
                    <a:pt x="0" y="2069719"/>
                  </a:moveTo>
                  <a:cubicBezTo>
                    <a:pt x="0" y="926719"/>
                    <a:pt x="926719" y="0"/>
                    <a:pt x="2069719" y="0"/>
                  </a:cubicBezTo>
                  <a:lnTo>
                    <a:pt x="20917408" y="0"/>
                  </a:lnTo>
                  <a:cubicBezTo>
                    <a:pt x="22060536" y="0"/>
                    <a:pt x="22987127" y="926719"/>
                    <a:pt x="22987127" y="2069719"/>
                  </a:cubicBezTo>
                  <a:lnTo>
                    <a:pt x="22987127" y="10348595"/>
                  </a:lnTo>
                  <a:cubicBezTo>
                    <a:pt x="22987127" y="11491722"/>
                    <a:pt x="22060408" y="12418314"/>
                    <a:pt x="20917408" y="12418314"/>
                  </a:cubicBezTo>
                  <a:lnTo>
                    <a:pt x="2069719" y="12418314"/>
                  </a:lnTo>
                  <a:cubicBezTo>
                    <a:pt x="926719" y="12418441"/>
                    <a:pt x="0" y="11491722"/>
                    <a:pt x="0" y="1034859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963650"/>
            <a:ext cx="8818646" cy="4911832"/>
            <a:chOff x="0" y="0"/>
            <a:chExt cx="11758195" cy="65491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58195" cy="6549110"/>
            </a:xfrm>
            <a:custGeom>
              <a:avLst/>
              <a:gdLst/>
              <a:ahLst/>
              <a:cxnLst/>
              <a:rect l="l" t="t" r="r" b="b"/>
              <a:pathLst>
                <a:path w="11758195" h="6549110">
                  <a:moveTo>
                    <a:pt x="0" y="0"/>
                  </a:moveTo>
                  <a:lnTo>
                    <a:pt x="11758195" y="0"/>
                  </a:lnTo>
                  <a:lnTo>
                    <a:pt x="11758195" y="6549110"/>
                  </a:lnTo>
                  <a:lnTo>
                    <a:pt x="0" y="6549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758195" cy="659673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6571"/>
                </a:lnSpc>
              </a:pPr>
              <a:r>
                <a:rPr lang="en-US" sz="13821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Thank you</a:t>
              </a:r>
            </a:p>
            <a:p>
              <a:pPr algn="l">
                <a:lnSpc>
                  <a:spcPts val="16571"/>
                </a:lnSpc>
              </a:pPr>
              <a:endParaRPr lang="en-US" sz="1382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65300" y="1566826"/>
            <a:ext cx="1990725" cy="1990725"/>
            <a:chOff x="0" y="0"/>
            <a:chExt cx="2654300" cy="26543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54300" cy="2654300"/>
            </a:xfrm>
            <a:custGeom>
              <a:avLst/>
              <a:gdLst/>
              <a:ahLst/>
              <a:cxnLst/>
              <a:rect l="l" t="t" r="r" b="b"/>
              <a:pathLst>
                <a:path w="2654300" h="2654300">
                  <a:moveTo>
                    <a:pt x="0" y="1327150"/>
                  </a:moveTo>
                  <a:cubicBezTo>
                    <a:pt x="0" y="594233"/>
                    <a:pt x="594233" y="0"/>
                    <a:pt x="1327150" y="0"/>
                  </a:cubicBezTo>
                  <a:cubicBezTo>
                    <a:pt x="2060067" y="0"/>
                    <a:pt x="2654300" y="594233"/>
                    <a:pt x="2654300" y="1327150"/>
                  </a:cubicBezTo>
                  <a:cubicBezTo>
                    <a:pt x="2654300" y="2060067"/>
                    <a:pt x="2060067" y="2654300"/>
                    <a:pt x="1327150" y="2654300"/>
                  </a:cubicBezTo>
                  <a:cubicBezTo>
                    <a:pt x="594233" y="2654300"/>
                    <a:pt x="0" y="2060194"/>
                    <a:pt x="0" y="1327150"/>
                  </a:cubicBezTo>
                  <a:close/>
                </a:path>
              </a:pathLst>
            </a:custGeom>
            <a:solidFill>
              <a:srgbClr val="E8552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0881150" y="2522750"/>
            <a:ext cx="5984900" cy="5975900"/>
            <a:chOff x="0" y="0"/>
            <a:chExt cx="7979867" cy="79678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79918" cy="7967853"/>
            </a:xfrm>
            <a:custGeom>
              <a:avLst/>
              <a:gdLst/>
              <a:ahLst/>
              <a:cxnLst/>
              <a:rect l="l" t="t" r="r" b="b"/>
              <a:pathLst>
                <a:path w="7979918" h="7967853">
                  <a:moveTo>
                    <a:pt x="0" y="0"/>
                  </a:moveTo>
                  <a:lnTo>
                    <a:pt x="7979918" y="0"/>
                  </a:lnTo>
                  <a:lnTo>
                    <a:pt x="7979918" y="7967853"/>
                  </a:lnTo>
                  <a:lnTo>
                    <a:pt x="0" y="796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5" b="-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5929308"/>
            <a:ext cx="10176545" cy="744322"/>
            <a:chOff x="0" y="0"/>
            <a:chExt cx="13568727" cy="9924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568727" cy="992430"/>
            </a:xfrm>
            <a:custGeom>
              <a:avLst/>
              <a:gdLst/>
              <a:ahLst/>
              <a:cxnLst/>
              <a:rect l="l" t="t" r="r" b="b"/>
              <a:pathLst>
                <a:path w="13568727" h="992430">
                  <a:moveTo>
                    <a:pt x="0" y="0"/>
                  </a:moveTo>
                  <a:lnTo>
                    <a:pt x="13568727" y="0"/>
                  </a:lnTo>
                  <a:lnTo>
                    <a:pt x="13568727" y="992430"/>
                  </a:lnTo>
                  <a:lnTo>
                    <a:pt x="0" y="9924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3568727" cy="10114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84"/>
                </a:lnSpc>
              </a:pPr>
              <a:r>
                <a:rPr lang="en-US" sz="3600" b="1">
                  <a:solidFill>
                    <a:srgbClr val="FECA5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Feel free to ask any questions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688</Words>
  <Application>Microsoft Office PowerPoint</Application>
  <PresentationFormat>Custom</PresentationFormat>
  <Paragraphs>164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Arimo Bold</vt:lpstr>
      <vt:lpstr>Arial</vt:lpstr>
      <vt:lpstr>Arimo</vt:lpstr>
      <vt:lpstr>Tahoma Bold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EE.pptx</dc:title>
  <cp:lastModifiedBy>S. M. RASEL</cp:lastModifiedBy>
  <cp:revision>3</cp:revision>
  <dcterms:created xsi:type="dcterms:W3CDTF">2006-08-16T00:00:00Z</dcterms:created>
  <dcterms:modified xsi:type="dcterms:W3CDTF">2025-12-29T08:05:28Z</dcterms:modified>
  <dc:identifier>DAGl4ixmgQU</dc:identifier>
</cp:coreProperties>
</file>